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311" r:id="rId21"/>
    <p:sldId id="312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310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313" r:id="rId44"/>
    <p:sldId id="31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BE02C9-A196-4356-8544-83E13F8CC0DE}" v="22" dt="2026-01-13T17:30:19.4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38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Smaniotto" userId="9bb32db103b8b18a" providerId="LiveId" clId="{D1A9789C-D9C8-4234-BAD3-E72611B06D43}"/>
    <pc:docChg chg="undo custSel addSld delSld modSld sldOrd">
      <pc:chgData name="Bruno Smaniotto" userId="9bb32db103b8b18a" providerId="LiveId" clId="{D1A9789C-D9C8-4234-BAD3-E72611B06D43}" dt="2026-01-13T17:30:36.661" v="2583" actId="33524"/>
      <pc:docMkLst>
        <pc:docMk/>
      </pc:docMkLst>
      <pc:sldChg chg="modSp mod">
        <pc:chgData name="Bruno Smaniotto" userId="9bb32db103b8b18a" providerId="LiveId" clId="{D1A9789C-D9C8-4234-BAD3-E72611B06D43}" dt="2025-12-21T23:00:37.092" v="31" actId="20577"/>
        <pc:sldMkLst>
          <pc:docMk/>
          <pc:sldMk cId="0" sldId="256"/>
        </pc:sldMkLst>
        <pc:spChg chg="mod">
          <ac:chgData name="Bruno Smaniotto" userId="9bb32db103b8b18a" providerId="LiveId" clId="{D1A9789C-D9C8-4234-BAD3-E72611B06D43}" dt="2025-12-21T23:00:37.092" v="31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5-12-21T23:00:46.696" v="32" actId="2710"/>
        <pc:sldMkLst>
          <pc:docMk/>
          <pc:sldMk cId="0" sldId="257"/>
        </pc:sldMkLst>
        <pc:spChg chg="mod">
          <ac:chgData name="Bruno Smaniotto" userId="9bb32db103b8b18a" providerId="LiveId" clId="{D1A9789C-D9C8-4234-BAD3-E72611B06D43}" dt="2025-12-21T23:00:46.696" v="32" actId="2710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6-01-13T16:00:26.742" v="1565" actId="1076"/>
        <pc:sldMkLst>
          <pc:docMk/>
          <pc:sldMk cId="0" sldId="260"/>
        </pc:sldMkLst>
        <pc:spChg chg="mod">
          <ac:chgData name="Bruno Smaniotto" userId="9bb32db103b8b18a" providerId="LiveId" clId="{D1A9789C-D9C8-4234-BAD3-E72611B06D43}" dt="2026-01-13T16:00:26.742" v="1565" actId="1076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6-01-13T16:00:58.914" v="1600" actId="20577"/>
        <pc:sldMkLst>
          <pc:docMk/>
          <pc:sldMk cId="0" sldId="261"/>
        </pc:sldMkLst>
        <pc:spChg chg="mod">
          <ac:chgData name="Bruno Smaniotto" userId="9bb32db103b8b18a" providerId="LiveId" clId="{D1A9789C-D9C8-4234-BAD3-E72611B06D43}" dt="2026-01-13T16:00:58.914" v="1600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5-12-21T23:01:57.587" v="50" actId="20577"/>
        <pc:sldMkLst>
          <pc:docMk/>
          <pc:sldMk cId="0" sldId="263"/>
        </pc:sldMkLst>
        <pc:graphicFrameChg chg="modGraphic">
          <ac:chgData name="Bruno Smaniotto" userId="9bb32db103b8b18a" providerId="LiveId" clId="{D1A9789C-D9C8-4234-BAD3-E72611B06D43}" dt="2025-12-21T23:01:57.587" v="50" actId="20577"/>
          <ac:graphicFrameMkLst>
            <pc:docMk/>
            <pc:sldMk cId="0" sldId="263"/>
            <ac:graphicFrameMk id="4" creationId="{00000000-0000-0000-0000-000000000000}"/>
          </ac:graphicFrameMkLst>
        </pc:graphicFrameChg>
      </pc:sldChg>
      <pc:sldChg chg="modSp mod">
        <pc:chgData name="Bruno Smaniotto" userId="9bb32db103b8b18a" providerId="LiveId" clId="{D1A9789C-D9C8-4234-BAD3-E72611B06D43}" dt="2025-12-21T23:02:17.721" v="52" actId="2710"/>
        <pc:sldMkLst>
          <pc:docMk/>
          <pc:sldMk cId="0" sldId="264"/>
        </pc:sldMkLst>
        <pc:spChg chg="mod">
          <ac:chgData name="Bruno Smaniotto" userId="9bb32db103b8b18a" providerId="LiveId" clId="{D1A9789C-D9C8-4234-BAD3-E72611B06D43}" dt="2025-12-21T23:02:17.721" v="52" actId="2710"/>
          <ac:spMkLst>
            <pc:docMk/>
            <pc:sldMk cId="0" sldId="264"/>
            <ac:spMk id="4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5-12-21T23:02:32.017" v="54" actId="2710"/>
        <pc:sldMkLst>
          <pc:docMk/>
          <pc:sldMk cId="0" sldId="265"/>
        </pc:sldMkLst>
        <pc:spChg chg="mod">
          <ac:chgData name="Bruno Smaniotto" userId="9bb32db103b8b18a" providerId="LiveId" clId="{D1A9789C-D9C8-4234-BAD3-E72611B06D43}" dt="2025-12-21T23:02:32.017" v="54" actId="2710"/>
          <ac:spMkLst>
            <pc:docMk/>
            <pc:sldMk cId="0" sldId="265"/>
            <ac:spMk id="5" creationId="{00000000-0000-0000-0000-000000000000}"/>
          </ac:spMkLst>
        </pc:spChg>
        <pc:spChg chg="mod">
          <ac:chgData name="Bruno Smaniotto" userId="9bb32db103b8b18a" providerId="LiveId" clId="{D1A9789C-D9C8-4234-BAD3-E72611B06D43}" dt="2025-12-21T23:02:28.260" v="53" actId="2710"/>
          <ac:spMkLst>
            <pc:docMk/>
            <pc:sldMk cId="0" sldId="265"/>
            <ac:spMk id="7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5-12-21T23:03:46.293" v="67" actId="2710"/>
        <pc:sldMkLst>
          <pc:docMk/>
          <pc:sldMk cId="0" sldId="266"/>
        </pc:sldMkLst>
        <pc:spChg chg="mod">
          <ac:chgData name="Bruno Smaniotto" userId="9bb32db103b8b18a" providerId="LiveId" clId="{D1A9789C-D9C8-4234-BAD3-E72611B06D43}" dt="2025-12-21T23:03:46.293" v="67" actId="2710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5-12-21T23:04:13.224" v="77" actId="2710"/>
        <pc:sldMkLst>
          <pc:docMk/>
          <pc:sldMk cId="0" sldId="267"/>
        </pc:sldMkLst>
        <pc:spChg chg="mod">
          <ac:chgData name="Bruno Smaniotto" userId="9bb32db103b8b18a" providerId="LiveId" clId="{D1A9789C-D9C8-4234-BAD3-E72611B06D43}" dt="2025-12-21T23:04:13.224" v="77" actId="2710"/>
          <ac:spMkLst>
            <pc:docMk/>
            <pc:sldMk cId="0" sldId="267"/>
            <ac:spMk id="4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5-12-21T23:04:32.043" v="80" actId="2710"/>
        <pc:sldMkLst>
          <pc:docMk/>
          <pc:sldMk cId="0" sldId="268"/>
        </pc:sldMkLst>
        <pc:spChg chg="mod">
          <ac:chgData name="Bruno Smaniotto" userId="9bb32db103b8b18a" providerId="LiveId" clId="{D1A9789C-D9C8-4234-BAD3-E72611B06D43}" dt="2025-12-21T23:04:32.043" v="80" actId="2710"/>
          <ac:spMkLst>
            <pc:docMk/>
            <pc:sldMk cId="0" sldId="268"/>
            <ac:spMk id="4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5-12-21T23:04:41.722" v="86" actId="20577"/>
        <pc:sldMkLst>
          <pc:docMk/>
          <pc:sldMk cId="0" sldId="269"/>
        </pc:sldMkLst>
        <pc:graphicFrameChg chg="modGraphic">
          <ac:chgData name="Bruno Smaniotto" userId="9bb32db103b8b18a" providerId="LiveId" clId="{D1A9789C-D9C8-4234-BAD3-E72611B06D43}" dt="2025-12-21T23:04:41.722" v="86" actId="20577"/>
          <ac:graphicFrameMkLst>
            <pc:docMk/>
            <pc:sldMk cId="0" sldId="269"/>
            <ac:graphicFrameMk id="4" creationId="{00000000-0000-0000-0000-000000000000}"/>
          </ac:graphicFrameMkLst>
        </pc:graphicFrameChg>
      </pc:sldChg>
      <pc:sldChg chg="modSp mod">
        <pc:chgData name="Bruno Smaniotto" userId="9bb32db103b8b18a" providerId="LiveId" clId="{D1A9789C-D9C8-4234-BAD3-E72611B06D43}" dt="2025-12-21T23:05:14.851" v="90" actId="2710"/>
        <pc:sldMkLst>
          <pc:docMk/>
          <pc:sldMk cId="0" sldId="270"/>
        </pc:sldMkLst>
        <pc:spChg chg="mod">
          <ac:chgData name="Bruno Smaniotto" userId="9bb32db103b8b18a" providerId="LiveId" clId="{D1A9789C-D9C8-4234-BAD3-E72611B06D43}" dt="2025-12-21T23:05:14.851" v="90" actId="2710"/>
          <ac:spMkLst>
            <pc:docMk/>
            <pc:sldMk cId="0" sldId="270"/>
            <ac:spMk id="4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5-12-21T23:06:33.073" v="93" actId="255"/>
        <pc:sldMkLst>
          <pc:docMk/>
          <pc:sldMk cId="0" sldId="271"/>
        </pc:sldMkLst>
        <pc:spChg chg="mod">
          <ac:chgData name="Bruno Smaniotto" userId="9bb32db103b8b18a" providerId="LiveId" clId="{D1A9789C-D9C8-4234-BAD3-E72611B06D43}" dt="2025-12-21T23:06:33.073" v="93" actId="255"/>
          <ac:spMkLst>
            <pc:docMk/>
            <pc:sldMk cId="0" sldId="271"/>
            <ac:spMk id="6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5-12-21T23:07:40.203" v="199" actId="20577"/>
        <pc:sldMkLst>
          <pc:docMk/>
          <pc:sldMk cId="0" sldId="273"/>
        </pc:sldMkLst>
        <pc:spChg chg="mod">
          <ac:chgData name="Bruno Smaniotto" userId="9bb32db103b8b18a" providerId="LiveId" clId="{D1A9789C-D9C8-4234-BAD3-E72611B06D43}" dt="2025-12-21T23:07:40.203" v="199" actId="20577"/>
          <ac:spMkLst>
            <pc:docMk/>
            <pc:sldMk cId="0" sldId="273"/>
            <ac:spMk id="4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5-12-21T23:08:00.203" v="208" actId="20577"/>
        <pc:sldMkLst>
          <pc:docMk/>
          <pc:sldMk cId="0" sldId="274"/>
        </pc:sldMkLst>
        <pc:spChg chg="mod">
          <ac:chgData name="Bruno Smaniotto" userId="9bb32db103b8b18a" providerId="LiveId" clId="{D1A9789C-D9C8-4234-BAD3-E72611B06D43}" dt="2025-12-21T23:08:00.203" v="208" actId="20577"/>
          <ac:spMkLst>
            <pc:docMk/>
            <pc:sldMk cId="0" sldId="274"/>
            <ac:spMk id="5" creationId="{00000000-0000-0000-0000-000000000000}"/>
          </ac:spMkLst>
        </pc:spChg>
        <pc:spChg chg="mod">
          <ac:chgData name="Bruno Smaniotto" userId="9bb32db103b8b18a" providerId="LiveId" clId="{D1A9789C-D9C8-4234-BAD3-E72611B06D43}" dt="2025-12-21T23:07:56.458" v="207" actId="20577"/>
          <ac:spMkLst>
            <pc:docMk/>
            <pc:sldMk cId="0" sldId="274"/>
            <ac:spMk id="7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5-12-21T23:09:32.370" v="238" actId="20577"/>
        <pc:sldMkLst>
          <pc:docMk/>
          <pc:sldMk cId="0" sldId="275"/>
        </pc:sldMkLst>
        <pc:spChg chg="mod">
          <ac:chgData name="Bruno Smaniotto" userId="9bb32db103b8b18a" providerId="LiveId" clId="{D1A9789C-D9C8-4234-BAD3-E72611B06D43}" dt="2025-12-21T23:09:32.370" v="238" actId="20577"/>
          <ac:spMkLst>
            <pc:docMk/>
            <pc:sldMk cId="0" sldId="275"/>
            <ac:spMk id="4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5-12-21T23:10:04.192" v="252" actId="15"/>
        <pc:sldMkLst>
          <pc:docMk/>
          <pc:sldMk cId="0" sldId="276"/>
        </pc:sldMkLst>
        <pc:spChg chg="mod">
          <ac:chgData name="Bruno Smaniotto" userId="9bb32db103b8b18a" providerId="LiveId" clId="{D1A9789C-D9C8-4234-BAD3-E72611B06D43}" dt="2025-12-21T23:10:04.192" v="252" actId="15"/>
          <ac:spMkLst>
            <pc:docMk/>
            <pc:sldMk cId="0" sldId="276"/>
            <ac:spMk id="4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5-12-21T23:10:19.606" v="259" actId="2710"/>
        <pc:sldMkLst>
          <pc:docMk/>
          <pc:sldMk cId="0" sldId="278"/>
        </pc:sldMkLst>
        <pc:spChg chg="mod">
          <ac:chgData name="Bruno Smaniotto" userId="9bb32db103b8b18a" providerId="LiveId" clId="{D1A9789C-D9C8-4234-BAD3-E72611B06D43}" dt="2025-12-21T23:10:19.606" v="259" actId="2710"/>
          <ac:spMkLst>
            <pc:docMk/>
            <pc:sldMk cId="0" sldId="278"/>
            <ac:spMk id="4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5-12-21T23:11:05.450" v="296" actId="20577"/>
        <pc:sldMkLst>
          <pc:docMk/>
          <pc:sldMk cId="0" sldId="279"/>
        </pc:sldMkLst>
        <pc:spChg chg="mod">
          <ac:chgData name="Bruno Smaniotto" userId="9bb32db103b8b18a" providerId="LiveId" clId="{D1A9789C-D9C8-4234-BAD3-E72611B06D43}" dt="2025-12-21T23:11:05.450" v="296" actId="20577"/>
          <ac:spMkLst>
            <pc:docMk/>
            <pc:sldMk cId="0" sldId="279"/>
            <ac:spMk id="6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5-12-21T23:11:22.707" v="305" actId="20577"/>
        <pc:sldMkLst>
          <pc:docMk/>
          <pc:sldMk cId="0" sldId="283"/>
        </pc:sldMkLst>
        <pc:spChg chg="mod">
          <ac:chgData name="Bruno Smaniotto" userId="9bb32db103b8b18a" providerId="LiveId" clId="{D1A9789C-D9C8-4234-BAD3-E72611B06D43}" dt="2025-12-21T23:11:22.707" v="305" actId="20577"/>
          <ac:spMkLst>
            <pc:docMk/>
            <pc:sldMk cId="0" sldId="283"/>
            <ac:spMk id="4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6-01-13T16:26:38.948" v="1602" actId="14100"/>
        <pc:sldMkLst>
          <pc:docMk/>
          <pc:sldMk cId="0" sldId="284"/>
        </pc:sldMkLst>
        <pc:spChg chg="mod">
          <ac:chgData name="Bruno Smaniotto" userId="9bb32db103b8b18a" providerId="LiveId" clId="{D1A9789C-D9C8-4234-BAD3-E72611B06D43}" dt="2026-01-13T16:26:38.948" v="1602" actId="14100"/>
          <ac:spMkLst>
            <pc:docMk/>
            <pc:sldMk cId="0" sldId="284"/>
            <ac:spMk id="5" creationId="{00000000-0000-0000-0000-000000000000}"/>
          </ac:spMkLst>
        </pc:spChg>
        <pc:spChg chg="mod">
          <ac:chgData name="Bruno Smaniotto" userId="9bb32db103b8b18a" providerId="LiveId" clId="{D1A9789C-D9C8-4234-BAD3-E72611B06D43}" dt="2026-01-13T16:26:27.489" v="1601"/>
          <ac:spMkLst>
            <pc:docMk/>
            <pc:sldMk cId="0" sldId="284"/>
            <ac:spMk id="6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5-12-21T23:19:23.326" v="887" actId="2710"/>
        <pc:sldMkLst>
          <pc:docMk/>
          <pc:sldMk cId="0" sldId="286"/>
        </pc:sldMkLst>
        <pc:spChg chg="mod">
          <ac:chgData name="Bruno Smaniotto" userId="9bb32db103b8b18a" providerId="LiveId" clId="{D1A9789C-D9C8-4234-BAD3-E72611B06D43}" dt="2025-12-21T23:19:23.326" v="887" actId="2710"/>
          <ac:spMkLst>
            <pc:docMk/>
            <pc:sldMk cId="0" sldId="286"/>
            <ac:spMk id="4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6-01-13T16:35:32.487" v="1606"/>
        <pc:sldMkLst>
          <pc:docMk/>
          <pc:sldMk cId="0" sldId="287"/>
        </pc:sldMkLst>
        <pc:spChg chg="mod">
          <ac:chgData name="Bruno Smaniotto" userId="9bb32db103b8b18a" providerId="LiveId" clId="{D1A9789C-D9C8-4234-BAD3-E72611B06D43}" dt="2025-12-21T23:19:58.751" v="889" actId="1076"/>
          <ac:spMkLst>
            <pc:docMk/>
            <pc:sldMk cId="0" sldId="287"/>
            <ac:spMk id="4" creationId="{00000000-0000-0000-0000-000000000000}"/>
          </ac:spMkLst>
        </pc:spChg>
        <pc:spChg chg="mod">
          <ac:chgData name="Bruno Smaniotto" userId="9bb32db103b8b18a" providerId="LiveId" clId="{D1A9789C-D9C8-4234-BAD3-E72611B06D43}" dt="2025-12-21T23:20:02.486" v="890" actId="14100"/>
          <ac:spMkLst>
            <pc:docMk/>
            <pc:sldMk cId="0" sldId="287"/>
            <ac:spMk id="5" creationId="{00000000-0000-0000-0000-000000000000}"/>
          </ac:spMkLst>
        </pc:spChg>
        <pc:spChg chg="mod">
          <ac:chgData name="Bruno Smaniotto" userId="9bb32db103b8b18a" providerId="LiveId" clId="{D1A9789C-D9C8-4234-BAD3-E72611B06D43}" dt="2026-01-13T16:35:32.487" v="1606"/>
          <ac:spMkLst>
            <pc:docMk/>
            <pc:sldMk cId="0" sldId="287"/>
            <ac:spMk id="6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5-12-21T23:22:25.160" v="968" actId="255"/>
        <pc:sldMkLst>
          <pc:docMk/>
          <pc:sldMk cId="0" sldId="289"/>
        </pc:sldMkLst>
        <pc:spChg chg="mod">
          <ac:chgData name="Bruno Smaniotto" userId="9bb32db103b8b18a" providerId="LiveId" clId="{D1A9789C-D9C8-4234-BAD3-E72611B06D43}" dt="2025-12-21T23:22:25.160" v="968" actId="255"/>
          <ac:spMkLst>
            <pc:docMk/>
            <pc:sldMk cId="0" sldId="289"/>
            <ac:spMk id="4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6-01-13T16:35:55.351" v="1607" actId="20577"/>
        <pc:sldMkLst>
          <pc:docMk/>
          <pc:sldMk cId="0" sldId="290"/>
        </pc:sldMkLst>
        <pc:spChg chg="mod">
          <ac:chgData name="Bruno Smaniotto" userId="9bb32db103b8b18a" providerId="LiveId" clId="{D1A9789C-D9C8-4234-BAD3-E72611B06D43}" dt="2026-01-13T16:35:55.351" v="1607" actId="20577"/>
          <ac:spMkLst>
            <pc:docMk/>
            <pc:sldMk cId="0" sldId="290"/>
            <ac:spMk id="6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5-12-21T23:22:47.241" v="974" actId="20577"/>
        <pc:sldMkLst>
          <pc:docMk/>
          <pc:sldMk cId="0" sldId="293"/>
        </pc:sldMkLst>
        <pc:spChg chg="mod">
          <ac:chgData name="Bruno Smaniotto" userId="9bb32db103b8b18a" providerId="LiveId" clId="{D1A9789C-D9C8-4234-BAD3-E72611B06D43}" dt="2025-12-21T23:22:47.241" v="974" actId="20577"/>
          <ac:spMkLst>
            <pc:docMk/>
            <pc:sldMk cId="0" sldId="293"/>
            <ac:spMk id="4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5-12-21T23:23:11.376" v="980" actId="20577"/>
        <pc:sldMkLst>
          <pc:docMk/>
          <pc:sldMk cId="0" sldId="296"/>
        </pc:sldMkLst>
        <pc:spChg chg="mod">
          <ac:chgData name="Bruno Smaniotto" userId="9bb32db103b8b18a" providerId="LiveId" clId="{D1A9789C-D9C8-4234-BAD3-E72611B06D43}" dt="2025-12-21T23:23:11.376" v="980" actId="20577"/>
          <ac:spMkLst>
            <pc:docMk/>
            <pc:sldMk cId="0" sldId="296"/>
            <ac:spMk id="4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5-12-21T23:23:46.774" v="987" actId="255"/>
        <pc:sldMkLst>
          <pc:docMk/>
          <pc:sldMk cId="0" sldId="297"/>
        </pc:sldMkLst>
        <pc:spChg chg="mod">
          <ac:chgData name="Bruno Smaniotto" userId="9bb32db103b8b18a" providerId="LiveId" clId="{D1A9789C-D9C8-4234-BAD3-E72611B06D43}" dt="2025-12-21T23:23:26.174" v="983" actId="1076"/>
          <ac:spMkLst>
            <pc:docMk/>
            <pc:sldMk cId="0" sldId="297"/>
            <ac:spMk id="4" creationId="{00000000-0000-0000-0000-000000000000}"/>
          </ac:spMkLst>
        </pc:spChg>
        <pc:spChg chg="mod">
          <ac:chgData name="Bruno Smaniotto" userId="9bb32db103b8b18a" providerId="LiveId" clId="{D1A9789C-D9C8-4234-BAD3-E72611B06D43}" dt="2025-12-21T23:23:31.908" v="984" actId="14100"/>
          <ac:spMkLst>
            <pc:docMk/>
            <pc:sldMk cId="0" sldId="297"/>
            <ac:spMk id="5" creationId="{00000000-0000-0000-0000-000000000000}"/>
          </ac:spMkLst>
        </pc:spChg>
        <pc:spChg chg="mod">
          <ac:chgData name="Bruno Smaniotto" userId="9bb32db103b8b18a" providerId="LiveId" clId="{D1A9789C-D9C8-4234-BAD3-E72611B06D43}" dt="2025-12-21T23:23:46.774" v="987" actId="255"/>
          <ac:spMkLst>
            <pc:docMk/>
            <pc:sldMk cId="0" sldId="297"/>
            <ac:spMk id="6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5-12-21T23:24:22.638" v="1022" actId="20577"/>
        <pc:sldMkLst>
          <pc:docMk/>
          <pc:sldMk cId="0" sldId="298"/>
        </pc:sldMkLst>
        <pc:graphicFrameChg chg="modGraphic">
          <ac:chgData name="Bruno Smaniotto" userId="9bb32db103b8b18a" providerId="LiveId" clId="{D1A9789C-D9C8-4234-BAD3-E72611B06D43}" dt="2025-12-21T23:24:22.638" v="1022" actId="20577"/>
          <ac:graphicFrameMkLst>
            <pc:docMk/>
            <pc:sldMk cId="0" sldId="298"/>
            <ac:graphicFrameMk id="4" creationId="{00000000-0000-0000-0000-000000000000}"/>
          </ac:graphicFrameMkLst>
        </pc:graphicFrameChg>
      </pc:sldChg>
      <pc:sldChg chg="modSp mod">
        <pc:chgData name="Bruno Smaniotto" userId="9bb32db103b8b18a" providerId="LiveId" clId="{D1A9789C-D9C8-4234-BAD3-E72611B06D43}" dt="2025-12-21T23:24:35.439" v="1029" actId="2710"/>
        <pc:sldMkLst>
          <pc:docMk/>
          <pc:sldMk cId="0" sldId="299"/>
        </pc:sldMkLst>
        <pc:spChg chg="mod">
          <ac:chgData name="Bruno Smaniotto" userId="9bb32db103b8b18a" providerId="LiveId" clId="{D1A9789C-D9C8-4234-BAD3-E72611B06D43}" dt="2025-12-21T23:24:35.439" v="1029" actId="2710"/>
          <ac:spMkLst>
            <pc:docMk/>
            <pc:sldMk cId="0" sldId="299"/>
            <ac:spMk id="4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5-12-21T23:24:41.855" v="1030" actId="2710"/>
        <pc:sldMkLst>
          <pc:docMk/>
          <pc:sldMk cId="0" sldId="301"/>
        </pc:sldMkLst>
        <pc:spChg chg="mod">
          <ac:chgData name="Bruno Smaniotto" userId="9bb32db103b8b18a" providerId="LiveId" clId="{D1A9789C-D9C8-4234-BAD3-E72611B06D43}" dt="2025-12-21T23:24:41.855" v="1030" actId="2710"/>
          <ac:spMkLst>
            <pc:docMk/>
            <pc:sldMk cId="0" sldId="301"/>
            <ac:spMk id="4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5-12-21T23:27:14.321" v="1448" actId="1076"/>
        <pc:sldMkLst>
          <pc:docMk/>
          <pc:sldMk cId="0" sldId="302"/>
        </pc:sldMkLst>
        <pc:spChg chg="mod">
          <ac:chgData name="Bruno Smaniotto" userId="9bb32db103b8b18a" providerId="LiveId" clId="{D1A9789C-D9C8-4234-BAD3-E72611B06D43}" dt="2025-12-21T23:27:14.321" v="1448" actId="1076"/>
          <ac:spMkLst>
            <pc:docMk/>
            <pc:sldMk cId="0" sldId="302"/>
            <ac:spMk id="4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5-12-21T23:27:46.201" v="1461" actId="2710"/>
        <pc:sldMkLst>
          <pc:docMk/>
          <pc:sldMk cId="0" sldId="307"/>
        </pc:sldMkLst>
        <pc:spChg chg="mod">
          <ac:chgData name="Bruno Smaniotto" userId="9bb32db103b8b18a" providerId="LiveId" clId="{D1A9789C-D9C8-4234-BAD3-E72611B06D43}" dt="2025-12-21T23:27:46.201" v="1461" actId="2710"/>
          <ac:spMkLst>
            <pc:docMk/>
            <pc:sldMk cId="0" sldId="307"/>
            <ac:spMk id="4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5-12-21T23:27:52.976" v="1469" actId="20577"/>
        <pc:sldMkLst>
          <pc:docMk/>
          <pc:sldMk cId="0" sldId="308"/>
        </pc:sldMkLst>
        <pc:spChg chg="mod">
          <ac:chgData name="Bruno Smaniotto" userId="9bb32db103b8b18a" providerId="LiveId" clId="{D1A9789C-D9C8-4234-BAD3-E72611B06D43}" dt="2025-12-21T23:27:52.976" v="1469" actId="20577"/>
          <ac:spMkLst>
            <pc:docMk/>
            <pc:sldMk cId="0" sldId="308"/>
            <ac:spMk id="4" creationId="{00000000-0000-0000-0000-000000000000}"/>
          </ac:spMkLst>
        </pc:spChg>
      </pc:sldChg>
      <pc:sldChg chg="modSp mod">
        <pc:chgData name="Bruno Smaniotto" userId="9bb32db103b8b18a" providerId="LiveId" clId="{D1A9789C-D9C8-4234-BAD3-E72611B06D43}" dt="2026-01-13T16:51:08.279" v="1608" actId="20577"/>
        <pc:sldMkLst>
          <pc:docMk/>
          <pc:sldMk cId="0" sldId="309"/>
        </pc:sldMkLst>
        <pc:spChg chg="mod">
          <ac:chgData name="Bruno Smaniotto" userId="9bb32db103b8b18a" providerId="LiveId" clId="{D1A9789C-D9C8-4234-BAD3-E72611B06D43}" dt="2026-01-13T16:51:08.279" v="1608" actId="20577"/>
          <ac:spMkLst>
            <pc:docMk/>
            <pc:sldMk cId="0" sldId="309"/>
            <ac:spMk id="3" creationId="{00000000-0000-0000-0000-000000000000}"/>
          </ac:spMkLst>
        </pc:spChg>
      </pc:sldChg>
      <pc:sldChg chg="modSp add mod ord">
        <pc:chgData name="Bruno Smaniotto" userId="9bb32db103b8b18a" providerId="LiveId" clId="{D1A9789C-D9C8-4234-BAD3-E72611B06D43}" dt="2025-12-21T23:19:11.530" v="886" actId="1076"/>
        <pc:sldMkLst>
          <pc:docMk/>
          <pc:sldMk cId="2646432855" sldId="310"/>
        </pc:sldMkLst>
        <pc:spChg chg="mod">
          <ac:chgData name="Bruno Smaniotto" userId="9bb32db103b8b18a" providerId="LiveId" clId="{D1A9789C-D9C8-4234-BAD3-E72611B06D43}" dt="2025-12-21T23:19:11.530" v="886" actId="1076"/>
          <ac:spMkLst>
            <pc:docMk/>
            <pc:sldMk cId="2646432855" sldId="310"/>
            <ac:spMk id="4" creationId="{A42F5A14-6387-FE20-A4DD-A7C9A9A46EB6}"/>
          </ac:spMkLst>
        </pc:spChg>
      </pc:sldChg>
      <pc:sldChg chg="modSp add mod ord">
        <pc:chgData name="Bruno Smaniotto" userId="9bb32db103b8b18a" providerId="LiveId" clId="{D1A9789C-D9C8-4234-BAD3-E72611B06D43}" dt="2025-12-21T23:31:50.155" v="1522" actId="2710"/>
        <pc:sldMkLst>
          <pc:docMk/>
          <pc:sldMk cId="1657263479" sldId="311"/>
        </pc:sldMkLst>
        <pc:spChg chg="mod">
          <ac:chgData name="Bruno Smaniotto" userId="9bb32db103b8b18a" providerId="LiveId" clId="{D1A9789C-D9C8-4234-BAD3-E72611B06D43}" dt="2025-12-21T23:31:29.217" v="1519" actId="5793"/>
          <ac:spMkLst>
            <pc:docMk/>
            <pc:sldMk cId="1657263479" sldId="311"/>
            <ac:spMk id="3" creationId="{EA32DE17-ADEF-6092-AB00-4747CCFF8B03}"/>
          </ac:spMkLst>
        </pc:spChg>
        <pc:spChg chg="mod">
          <ac:chgData name="Bruno Smaniotto" userId="9bb32db103b8b18a" providerId="LiveId" clId="{D1A9789C-D9C8-4234-BAD3-E72611B06D43}" dt="2025-12-21T23:31:50.155" v="1522" actId="2710"/>
          <ac:spMkLst>
            <pc:docMk/>
            <pc:sldMk cId="1657263479" sldId="311"/>
            <ac:spMk id="4" creationId="{54BA2674-6699-9792-86D0-D07ED3DE8DB9}"/>
          </ac:spMkLst>
        </pc:spChg>
      </pc:sldChg>
      <pc:sldChg chg="modSp add mod">
        <pc:chgData name="Bruno Smaniotto" userId="9bb32db103b8b18a" providerId="LiveId" clId="{D1A9789C-D9C8-4234-BAD3-E72611B06D43}" dt="2025-12-21T23:34:08.399" v="1562" actId="20577"/>
        <pc:sldMkLst>
          <pc:docMk/>
          <pc:sldMk cId="3022394033" sldId="312"/>
        </pc:sldMkLst>
        <pc:spChg chg="mod">
          <ac:chgData name="Bruno Smaniotto" userId="9bb32db103b8b18a" providerId="LiveId" clId="{D1A9789C-D9C8-4234-BAD3-E72611B06D43}" dt="2025-12-21T23:34:08.399" v="1562" actId="20577"/>
          <ac:spMkLst>
            <pc:docMk/>
            <pc:sldMk cId="3022394033" sldId="312"/>
            <ac:spMk id="3" creationId="{E64AF29E-7B00-8BF3-5284-09A6D698E39C}"/>
          </ac:spMkLst>
        </pc:spChg>
        <pc:spChg chg="mod">
          <ac:chgData name="Bruno Smaniotto" userId="9bb32db103b8b18a" providerId="LiveId" clId="{D1A9789C-D9C8-4234-BAD3-E72611B06D43}" dt="2025-12-21T23:33:57.248" v="1525" actId="2710"/>
          <ac:spMkLst>
            <pc:docMk/>
            <pc:sldMk cId="3022394033" sldId="312"/>
            <ac:spMk id="4" creationId="{84DCB20E-BD31-F430-C193-BB984D32E4DB}"/>
          </ac:spMkLst>
        </pc:spChg>
      </pc:sldChg>
      <pc:sldChg chg="addSp delSp modSp add mod">
        <pc:chgData name="Bruno Smaniotto" userId="9bb32db103b8b18a" providerId="LiveId" clId="{D1A9789C-D9C8-4234-BAD3-E72611B06D43}" dt="2026-01-13T17:10:53.460" v="2243" actId="2710"/>
        <pc:sldMkLst>
          <pc:docMk/>
          <pc:sldMk cId="2364042708" sldId="313"/>
        </pc:sldMkLst>
        <pc:spChg chg="mod">
          <ac:chgData name="Bruno Smaniotto" userId="9bb32db103b8b18a" providerId="LiveId" clId="{D1A9789C-D9C8-4234-BAD3-E72611B06D43}" dt="2026-01-13T17:07:48.185" v="1986" actId="20577"/>
          <ac:spMkLst>
            <pc:docMk/>
            <pc:sldMk cId="2364042708" sldId="313"/>
            <ac:spMk id="3" creationId="{3C713229-4425-4E54-21FD-93AF7F1EE1B3}"/>
          </ac:spMkLst>
        </pc:spChg>
        <pc:spChg chg="del">
          <ac:chgData name="Bruno Smaniotto" userId="9bb32db103b8b18a" providerId="LiveId" clId="{D1A9789C-D9C8-4234-BAD3-E72611B06D43}" dt="2026-01-13T17:01:42.439" v="1670" actId="478"/>
          <ac:spMkLst>
            <pc:docMk/>
            <pc:sldMk cId="2364042708" sldId="313"/>
            <ac:spMk id="4" creationId="{47CC5470-13EE-B7CE-5505-8C12B86402C4}"/>
          </ac:spMkLst>
        </pc:spChg>
        <pc:spChg chg="del">
          <ac:chgData name="Bruno Smaniotto" userId="9bb32db103b8b18a" providerId="LiveId" clId="{D1A9789C-D9C8-4234-BAD3-E72611B06D43}" dt="2026-01-13T17:01:44.606" v="1671" actId="478"/>
          <ac:spMkLst>
            <pc:docMk/>
            <pc:sldMk cId="2364042708" sldId="313"/>
            <ac:spMk id="5" creationId="{B2B53DE1-D11C-DD68-5D18-8DDE19FEFA02}"/>
          </ac:spMkLst>
        </pc:spChg>
        <pc:spChg chg="del mod">
          <ac:chgData name="Bruno Smaniotto" userId="9bb32db103b8b18a" providerId="LiveId" clId="{D1A9789C-D9C8-4234-BAD3-E72611B06D43}" dt="2026-01-13T17:01:55.359" v="1674" actId="478"/>
          <ac:spMkLst>
            <pc:docMk/>
            <pc:sldMk cId="2364042708" sldId="313"/>
            <ac:spMk id="6" creationId="{2C40FB0E-8B8B-ED97-9C58-995830ADE813}"/>
          </ac:spMkLst>
        </pc:spChg>
        <pc:spChg chg="add del mod">
          <ac:chgData name="Bruno Smaniotto" userId="9bb32db103b8b18a" providerId="LiveId" clId="{D1A9789C-D9C8-4234-BAD3-E72611B06D43}" dt="2026-01-13T17:03:21.207" v="1718" actId="478"/>
          <ac:spMkLst>
            <pc:docMk/>
            <pc:sldMk cId="2364042708" sldId="313"/>
            <ac:spMk id="7" creationId="{44DA5A7A-A557-4B89-3176-3E00AA454C3F}"/>
          </ac:spMkLst>
        </pc:spChg>
        <pc:spChg chg="add mod">
          <ac:chgData name="Bruno Smaniotto" userId="9bb32db103b8b18a" providerId="LiveId" clId="{D1A9789C-D9C8-4234-BAD3-E72611B06D43}" dt="2026-01-13T17:10:53.460" v="2243" actId="2710"/>
          <ac:spMkLst>
            <pc:docMk/>
            <pc:sldMk cId="2364042708" sldId="313"/>
            <ac:spMk id="8" creationId="{0EB8C615-7C0F-842E-BD59-25E11377593E}"/>
          </ac:spMkLst>
        </pc:spChg>
      </pc:sldChg>
      <pc:sldChg chg="modSp add del mod">
        <pc:chgData name="Bruno Smaniotto" userId="9bb32db103b8b18a" providerId="LiveId" clId="{D1A9789C-D9C8-4234-BAD3-E72611B06D43}" dt="2026-01-13T16:59:11.345" v="1632" actId="2696"/>
        <pc:sldMkLst>
          <pc:docMk/>
          <pc:sldMk cId="2729370944" sldId="313"/>
        </pc:sldMkLst>
        <pc:spChg chg="mod">
          <ac:chgData name="Bruno Smaniotto" userId="9bb32db103b8b18a" providerId="LiveId" clId="{D1A9789C-D9C8-4234-BAD3-E72611B06D43}" dt="2026-01-13T16:59:01.591" v="1631" actId="20577"/>
          <ac:spMkLst>
            <pc:docMk/>
            <pc:sldMk cId="2729370944" sldId="313"/>
            <ac:spMk id="6" creationId="{507CDA63-C86D-7BE9-55B7-5C3BEA03AF0B}"/>
          </ac:spMkLst>
        </pc:spChg>
      </pc:sldChg>
      <pc:sldChg chg="modSp add mod ord">
        <pc:chgData name="Bruno Smaniotto" userId="9bb32db103b8b18a" providerId="LiveId" clId="{D1A9789C-D9C8-4234-BAD3-E72611B06D43}" dt="2026-01-13T17:30:36.661" v="2583" actId="33524"/>
        <pc:sldMkLst>
          <pc:docMk/>
          <pc:sldMk cId="408446604" sldId="314"/>
        </pc:sldMkLst>
        <pc:spChg chg="mod">
          <ac:chgData name="Bruno Smaniotto" userId="9bb32db103b8b18a" providerId="LiveId" clId="{D1A9789C-D9C8-4234-BAD3-E72611B06D43}" dt="2026-01-13T17:07:51.756" v="1988" actId="20577"/>
          <ac:spMkLst>
            <pc:docMk/>
            <pc:sldMk cId="408446604" sldId="314"/>
            <ac:spMk id="3" creationId="{AE15A9D9-8BD4-6F7A-E7C3-8F82D20EC462}"/>
          </ac:spMkLst>
        </pc:spChg>
        <pc:spChg chg="mod">
          <ac:chgData name="Bruno Smaniotto" userId="9bb32db103b8b18a" providerId="LiveId" clId="{D1A9789C-D9C8-4234-BAD3-E72611B06D43}" dt="2026-01-13T17:30:36.661" v="2583" actId="33524"/>
          <ac:spMkLst>
            <pc:docMk/>
            <pc:sldMk cId="408446604" sldId="314"/>
            <ac:spMk id="6" creationId="{90D3EAEE-696D-C07B-37A7-A3FC0F8AC6C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AABCDC-7689-460D-BD21-5082417452F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3CB86E-AD41-4E90-B2CB-6C10384BC2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141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CB86E-AD41-4E90-B2CB-6C10384BC21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820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CB86E-AD41-4E90-B2CB-6C10384BC21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980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CB86E-AD41-4E90-B2CB-6C10384BC21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13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2472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dirty="0"/>
              <a:t>Vibe Coding for Research</a:t>
            </a:r>
          </a:p>
          <a:p>
            <a:pPr algn="ctr">
              <a:spcBef>
                <a:spcPts val="2000"/>
              </a:spcBef>
              <a:defRPr sz="2800">
                <a:solidFill>
                  <a:srgbClr val="FFC107"/>
                </a:solidFill>
              </a:defRPr>
            </a:pPr>
            <a:r>
              <a:rPr dirty="0"/>
              <a:t>AI-Assisted Programming with Validation Best Practices</a:t>
            </a:r>
            <a:br>
              <a:rPr dirty="0"/>
            </a:br>
            <a:br>
              <a:rPr dirty="0"/>
            </a:br>
            <a:r>
              <a:rPr dirty="0"/>
              <a:t>D-Lab | </a:t>
            </a:r>
            <a:r>
              <a:rPr lang="en-US" dirty="0"/>
              <a:t>UC Berkeley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We'll Cover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19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Installing Gemini CLI (Windows &amp; Linux)</a:t>
            </a:r>
          </a:p>
          <a:p>
            <a:pPr>
              <a:lnSpc>
                <a:spcPct val="20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Understanding CLI vs chat-based AI</a:t>
            </a:r>
          </a:p>
          <a:p>
            <a:pPr>
              <a:lnSpc>
                <a:spcPct val="20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Best practices for effective prompting</a:t>
            </a:r>
          </a:p>
          <a:p>
            <a:pPr>
              <a:lnSpc>
                <a:spcPct val="20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Live Demo: Building &amp; validating linear regression</a:t>
            </a:r>
          </a:p>
          <a:p>
            <a:pPr>
              <a:lnSpc>
                <a:spcPct val="20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Five validation strategies for research code</a:t>
            </a:r>
          </a:p>
          <a:p>
            <a:pPr>
              <a:lnSpc>
                <a:spcPct val="20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Landscape of other AI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 1: Setup &amp; Installation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Installing Gemini CLI -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Note: You may need to run PowerShell as Administrator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11643055" cy="45720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772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# 1. Install Node.js from https://nodejs.org (LTS version)</a:t>
            </a:r>
            <a:br/>
            <a:r>
              <a:t>#    Download and run the installer</a:t>
            </a:r>
            <a:br/>
            <a:br/>
            <a:r>
              <a:t># 2. Open PowerShell and run:</a:t>
            </a:r>
            <a:br/>
            <a:r>
              <a:t>npm install -g @google/generative-ai-cli</a:t>
            </a:r>
            <a:br/>
            <a:br/>
            <a:r>
              <a:t># 3. Authenticate with your Google account:</a:t>
            </a:r>
            <a:br/>
            <a:r>
              <a:t>gemini auth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Installing Gemini CLI - Linux/Mac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19" y="1347651"/>
            <a:ext cx="11643055" cy="45720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# 1. Install Node.js (if not already installed)</a:t>
            </a:r>
            <a:br/>
            <a:r>
              <a:t># Ubuntu/Debian:</a:t>
            </a:r>
            <a:br/>
            <a:r>
              <a:t>sudo apt install nodejs npm</a:t>
            </a:r>
            <a:br/>
            <a:br/>
            <a:r>
              <a:t># Mac (with Homebrew):</a:t>
            </a:r>
            <a:br/>
            <a:r>
              <a:t>brew install node</a:t>
            </a:r>
            <a:br/>
            <a:br/>
            <a:r>
              <a:t># 2. Install Gemini CLI:</a:t>
            </a:r>
            <a:br/>
            <a:r>
              <a:t>npm install -g @google/generative-ai-cli</a:t>
            </a:r>
            <a:br/>
            <a:br/>
            <a:r>
              <a:t># 3. Authenticate:</a:t>
            </a:r>
            <a:br/>
            <a:r>
              <a:t>gemini auth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3334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dirty="0"/>
              <a:t>Troubleshooting Installation?</a:t>
            </a:r>
          </a:p>
          <a:p>
            <a:pPr algn="ctr">
              <a:spcBef>
                <a:spcPts val="2000"/>
              </a:spcBef>
              <a:defRPr sz="2800">
                <a:solidFill>
                  <a:srgbClr val="FFC107"/>
                </a:solidFill>
              </a:defRPr>
            </a:pPr>
            <a:r>
              <a:rPr dirty="0"/>
              <a:t>...Use Gemini!</a:t>
            </a:r>
            <a:br>
              <a:rPr dirty="0"/>
            </a:br>
            <a:br>
              <a:rPr dirty="0"/>
            </a:br>
            <a:r>
              <a:rPr dirty="0"/>
              <a:t>(Or ChatGPT, Claude, </a:t>
            </a:r>
            <a:r>
              <a:rPr lang="en-US" dirty="0"/>
              <a:t>…</a:t>
            </a:r>
            <a:r>
              <a:rPr dirty="0"/>
              <a:t>)</a:t>
            </a:r>
            <a:br>
              <a:rPr/>
            </a:br>
            <a:br>
              <a:rPr/>
            </a:br>
            <a:r>
              <a:rPr lang="en-US"/>
              <a:t>AI is</a:t>
            </a:r>
            <a:r>
              <a:t> </a:t>
            </a:r>
            <a:r>
              <a:rPr dirty="0"/>
              <a:t>great at debugging installation issues.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 2: Understanding CLI-Based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is CLI and Why Does It Matter?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49921"/>
              </p:ext>
            </p:extLst>
          </p:nvPr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3142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Chat-Based AI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CLI-Based AI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Conversation in browser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Runs in your terminal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Copy-paste</a:t>
                      </a:r>
                      <a:r>
                        <a:rPr lang="en-US" dirty="0"/>
                        <a:t>/upload</a:t>
                      </a:r>
                      <a:r>
                        <a:rPr dirty="0"/>
                        <a:t> code</a:t>
                      </a:r>
                      <a:r>
                        <a:rPr lang="en-US" dirty="0"/>
                        <a:t>s and files</a:t>
                      </a:r>
                      <a:r>
                        <a:rPr dirty="0"/>
                        <a:t> manually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Reads/writes files directly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Limited context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Larger persistent 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You run the code yourself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AI runs code and sees 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One response at a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Autonomous multi-step execution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Isolated from your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Operates within your project folder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Can CLI Actually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99" y="1469571"/>
            <a:ext cx="11277295" cy="4836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Read any file in your project directory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Create new files (scripts, data, configs)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Edit existing files in place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Run code and observe the output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Iterate automatically based on errors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Maintain context across long sessions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Execute multi-step tasks autonomously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CLI vs Browser: When to Use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Use CLI When: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94960" cy="4212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• Working on multi-file projects</a:t>
            </a:r>
          </a:p>
          <a:p>
            <a:pPr>
              <a:lnSpc>
                <a:spcPct val="200000"/>
              </a:lnSpc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• Need to run and test code iteratively</a:t>
            </a:r>
          </a:p>
          <a:p>
            <a:pPr>
              <a:lnSpc>
                <a:spcPct val="200000"/>
              </a:lnSpc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• Tasks require file system access</a:t>
            </a:r>
          </a:p>
          <a:p>
            <a:pPr>
              <a:lnSpc>
                <a:spcPct val="200000"/>
              </a:lnSpc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• Long, complex coding sessions</a:t>
            </a:r>
          </a:p>
          <a:p>
            <a:pPr>
              <a:lnSpc>
                <a:spcPct val="200000"/>
              </a:lnSpc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• Building something from scratch</a:t>
            </a:r>
          </a:p>
          <a:p>
            <a:pPr>
              <a:lnSpc>
                <a:spcPct val="200000"/>
              </a:lnSpc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• Autonomous execution is helpful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8016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Use Browser When: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37360"/>
            <a:ext cx="5394960" cy="4212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• Quick one-off questions</a:t>
            </a:r>
          </a:p>
          <a:p>
            <a:pPr>
              <a:lnSpc>
                <a:spcPct val="200000"/>
              </a:lnSpc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• Explaining concepts or code</a:t>
            </a:r>
          </a:p>
          <a:p>
            <a:pPr>
              <a:lnSpc>
                <a:spcPct val="200000"/>
              </a:lnSpc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• Brainstorming ideas</a:t>
            </a:r>
          </a:p>
          <a:p>
            <a:pPr>
              <a:lnSpc>
                <a:spcPct val="200000"/>
              </a:lnSpc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• No local files needed</a:t>
            </a:r>
          </a:p>
          <a:p>
            <a:pPr>
              <a:lnSpc>
                <a:spcPct val="200000"/>
              </a:lnSpc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• Simple code snippets</a:t>
            </a:r>
          </a:p>
          <a:p>
            <a:pPr>
              <a:lnSpc>
                <a:spcPct val="200000"/>
              </a:lnSpc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• Learning new concepts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CLI Can Do That Browser Can't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1. Extended Autonomous Sessions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Claude Code has completed 24+ hour coding tasks without supervision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AI can work through complex multi-step problems independently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2. Real-Time Error Correction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AI runs code, sees errors, fixes them, and re-runs automatically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No copy-paste cycle between browser and terminal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3. Project-Wide Refactoring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AI can read all files, understand dependencies, and modify consistently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Browser AI only sees what you paste into the chat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Three Things CLI Does Better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Example 1: Debugging a 500-line script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Browser: Copy code → paste → get suggestion → copy fix → paste back → run → repeat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CLI: "Fix the bug" → AI reads, edits, runs, verifies, done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Example 2: Setting up a new project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Browser: Ask for each file separately, manually create folder structure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CLI: "Create a Flask app with auth, tests, and Docker" → complete project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Example 3: Data pipeline with multiple steps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Browser: Can't access your actual data files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CLI: Reads data, processes it, saves results, generates report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GEMINI.md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Create GEMINI.md in your project root</a:t>
            </a:r>
          </a:p>
          <a:p>
            <a:pPr>
              <a:lnSpc>
                <a:spcPct val="20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Provides persistent context about your project</a:t>
            </a:r>
          </a:p>
          <a:p>
            <a:pPr>
              <a:lnSpc>
                <a:spcPct val="20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Include: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Project description and goals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File structure overview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Libraries and dependencies used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Coding conventions and style preferences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Constraints (e.g., 'use </a:t>
            </a:r>
            <a:r>
              <a:rPr dirty="0" err="1"/>
              <a:t>numpy</a:t>
            </a:r>
            <a:r>
              <a:rPr dirty="0"/>
              <a:t> only, no </a:t>
            </a:r>
            <a:r>
              <a:rPr dirty="0" err="1"/>
              <a:t>sklearn</a:t>
            </a:r>
            <a:r>
              <a:rPr dirty="0"/>
              <a:t>')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Useful Commands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750770"/>
              </p:ext>
            </p:extLst>
          </p:nvPr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3142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Command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What It Does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/model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Switch between models (Flash, Pro, </a:t>
                      </a:r>
                      <a:r>
                        <a:rPr lang="en-US" dirty="0"/>
                        <a:t>Auto, </a:t>
                      </a:r>
                      <a:r>
                        <a:rPr dirty="0"/>
                        <a:t>etc.)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/help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Show all available commands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/clear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Clear conversation history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/cost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Show token usage for the session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↑ (up arrow)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Recall previous prompts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Ctrl+C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Cancel current operation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 Tip: Write Prompts in a Text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Problem: Pressing Enter accidentally submits a partial prompt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Solution: Write complex prompts in a .txt file first, then paste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Bonus: You keep a record of prompts for reproducibility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Example workflow: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1. Create prompts/my_prompt.txt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2. Write and refine your prompt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3. Copy and paste into Gemini CLI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4. Iterate and save successful prompts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Sample GEMINI.md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Save this in your project root as GEMINI.md: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11643055" cy="45720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4657" y="1868031"/>
            <a:ext cx="11277295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rPr sz="1100" dirty="0"/>
              <a:t># Research Project: Climate Data Analysis</a:t>
            </a:r>
            <a:br>
              <a:rPr sz="1100" dirty="0"/>
            </a:br>
            <a:br>
              <a:rPr sz="1100" dirty="0"/>
            </a:br>
            <a:r>
              <a:rPr sz="1100" dirty="0"/>
              <a:t>## Project Overview</a:t>
            </a:r>
            <a:br>
              <a:rPr sz="1100" dirty="0"/>
            </a:br>
            <a:r>
              <a:rPr sz="1100" dirty="0"/>
              <a:t>Statistical analysis of temperature anomalies using Python.</a:t>
            </a:r>
            <a:br>
              <a:rPr sz="1100" dirty="0"/>
            </a:br>
            <a:r>
              <a:rPr sz="1100" dirty="0"/>
              <a:t>Goal: Reproduce key findings from Smith et al. (2023).</a:t>
            </a:r>
            <a:br>
              <a:rPr sz="1100" dirty="0"/>
            </a:br>
            <a:br>
              <a:rPr sz="1100" dirty="0"/>
            </a:br>
            <a:r>
              <a:rPr sz="1100" dirty="0"/>
              <a:t>## Tech Stack</a:t>
            </a:r>
            <a:br>
              <a:rPr sz="1100" dirty="0"/>
            </a:br>
            <a:r>
              <a:rPr sz="1100" dirty="0"/>
              <a:t>- Python 3.11</a:t>
            </a:r>
            <a:br>
              <a:rPr sz="1100" dirty="0"/>
            </a:br>
            <a:r>
              <a:rPr sz="1100" dirty="0"/>
              <a:t>- Libraries: </a:t>
            </a:r>
            <a:r>
              <a:rPr sz="1100" dirty="0" err="1"/>
              <a:t>numpy</a:t>
            </a:r>
            <a:r>
              <a:rPr sz="1100" dirty="0"/>
              <a:t>, pandas, </a:t>
            </a:r>
            <a:r>
              <a:rPr sz="1100" dirty="0" err="1"/>
              <a:t>scipy</a:t>
            </a:r>
            <a:r>
              <a:rPr sz="1100" dirty="0"/>
              <a:t>, matplotlib, </a:t>
            </a:r>
            <a:r>
              <a:rPr sz="1100" dirty="0" err="1"/>
              <a:t>statsmodels</a:t>
            </a:r>
            <a:br>
              <a:rPr sz="1100" dirty="0"/>
            </a:br>
            <a:r>
              <a:rPr sz="1100" dirty="0"/>
              <a:t>- DO NOT use: </a:t>
            </a:r>
            <a:r>
              <a:rPr sz="1100" dirty="0" err="1"/>
              <a:t>sklearn</a:t>
            </a:r>
            <a:r>
              <a:rPr sz="1100" dirty="0"/>
              <a:t>, </a:t>
            </a:r>
            <a:r>
              <a:rPr sz="1100" dirty="0" err="1"/>
              <a:t>tensorflow</a:t>
            </a:r>
            <a:r>
              <a:rPr sz="1100" dirty="0"/>
              <a:t>, </a:t>
            </a:r>
            <a:r>
              <a:rPr sz="1100" dirty="0" err="1"/>
              <a:t>pytorch</a:t>
            </a:r>
            <a:r>
              <a:rPr sz="1100" dirty="0"/>
              <a:t> (keep it simple)</a:t>
            </a:r>
            <a:br>
              <a:rPr sz="1100" dirty="0"/>
            </a:br>
            <a:br>
              <a:rPr sz="1100" dirty="0"/>
            </a:br>
            <a:r>
              <a:rPr sz="1100" dirty="0"/>
              <a:t>## File Structure</a:t>
            </a:r>
            <a:br>
              <a:rPr sz="1100" dirty="0"/>
            </a:br>
            <a:r>
              <a:rPr sz="1100" dirty="0"/>
              <a:t>/data          - Raw CSV files (do not modify)</a:t>
            </a:r>
            <a:br>
              <a:rPr sz="1100" dirty="0"/>
            </a:br>
            <a:r>
              <a:rPr sz="1100" dirty="0"/>
              <a:t>/</a:t>
            </a:r>
            <a:r>
              <a:rPr sz="1100" dirty="0" err="1"/>
              <a:t>src</a:t>
            </a:r>
            <a:r>
              <a:rPr sz="1100" dirty="0"/>
              <a:t>           - Python scripts</a:t>
            </a:r>
            <a:br>
              <a:rPr sz="1100" dirty="0"/>
            </a:br>
            <a:r>
              <a:rPr sz="1100" dirty="0"/>
              <a:t>/outputs       - Generated figures and tables</a:t>
            </a:r>
            <a:br>
              <a:rPr sz="1100" dirty="0"/>
            </a:br>
            <a:r>
              <a:rPr sz="1100" dirty="0"/>
              <a:t>/tests         - Unit tests</a:t>
            </a:r>
            <a:br>
              <a:rPr sz="1100" dirty="0"/>
            </a:br>
            <a:br>
              <a:rPr sz="1100" dirty="0"/>
            </a:br>
            <a:r>
              <a:rPr sz="1100" dirty="0"/>
              <a:t>## Coding Conventions</a:t>
            </a:r>
            <a:br>
              <a:rPr sz="1100" dirty="0"/>
            </a:br>
            <a:r>
              <a:rPr sz="1100" dirty="0"/>
              <a:t>- Use type hints for all functions</a:t>
            </a:r>
            <a:br>
              <a:rPr sz="1100" dirty="0"/>
            </a:br>
            <a:r>
              <a:rPr sz="1100" dirty="0"/>
              <a:t>- Docstrings in NumPy format</a:t>
            </a:r>
            <a:br>
              <a:rPr sz="1100" dirty="0"/>
            </a:br>
            <a:r>
              <a:rPr sz="1100" dirty="0"/>
              <a:t>- Max line length: 88 characters (black formatter)</a:t>
            </a:r>
            <a:br>
              <a:rPr sz="1100" dirty="0"/>
            </a:br>
            <a:br>
              <a:rPr sz="1100" dirty="0"/>
            </a:br>
            <a:r>
              <a:rPr sz="1100" dirty="0"/>
              <a:t>## Important Constraints</a:t>
            </a:r>
            <a:br>
              <a:rPr sz="1100" dirty="0"/>
            </a:br>
            <a:r>
              <a:rPr sz="1100" dirty="0"/>
              <a:t>- All analysis must be reproducible (set random seeds)</a:t>
            </a:r>
            <a:br>
              <a:rPr sz="1100" dirty="0"/>
            </a:br>
            <a:r>
              <a:rPr sz="1100" dirty="0"/>
              <a:t>- Statistical tests require p-value AND effect size</a:t>
            </a:r>
            <a:br>
              <a:rPr sz="1100" dirty="0"/>
            </a:br>
            <a:r>
              <a:rPr sz="1100" dirty="0"/>
              <a:t>- Figures must be publication-quality (300 DPI, PDF format)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 3: Best Practices for Prompting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Five Prompting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19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1. Be Specific - include constraints, file names, expected outputs</a:t>
            </a:r>
            <a:endParaRPr lang="en-US" dirty="0"/>
          </a:p>
          <a:p>
            <a:pPr>
              <a:lnSpc>
                <a:spcPct val="20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2. Provide Context - what's this for? What do you already have?</a:t>
            </a:r>
          </a:p>
          <a:p>
            <a:pPr>
              <a:lnSpc>
                <a:spcPct val="20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3. Specify Outputs - 'save to X', 'print table showing Y'</a:t>
            </a:r>
          </a:p>
          <a:p>
            <a:pPr>
              <a:lnSpc>
                <a:spcPct val="20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4. Iterate - start simple, add complexity in follow-ups</a:t>
            </a:r>
          </a:p>
          <a:p>
            <a:pPr>
              <a:lnSpc>
                <a:spcPct val="20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5. Include Validation - 'verify by...' or 'test with...’</a:t>
            </a:r>
            <a:endParaRPr lang="en-US" dirty="0"/>
          </a:p>
          <a:p>
            <a:pPr>
              <a:lnSpc>
                <a:spcPct val="20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lang="en-US" dirty="0"/>
              <a:t>• Avoiding Ambiguity is key!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Good vs Bad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❌ Vague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94960" cy="3891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• "Write linear regression code"</a:t>
            </a:r>
            <a:endParaRPr lang="en-US" dirty="0"/>
          </a:p>
          <a:p>
            <a:pPr>
              <a:lnSpc>
                <a:spcPct val="150000"/>
              </a:lnSpc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endParaRPr dirty="0"/>
          </a:p>
          <a:p>
            <a:pPr>
              <a:lnSpc>
                <a:spcPct val="150000"/>
              </a:lnSpc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• Problems: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• No language specified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• No structure defined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• No output format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• No validation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8016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✅ Specific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37360"/>
            <a:ext cx="539496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• "Create a Python class called </a:t>
            </a:r>
            <a:r>
              <a:rPr dirty="0" err="1"/>
              <a:t>LinearRegression</a:t>
            </a:r>
            <a:r>
              <a:rPr dirty="0"/>
              <a:t> with fit() and predict() methods. Implement OLS from scratch using only NumPy. Include properties for coefficients, intercept, R-squared, and standard errors. Save as linear_regression.py"</a:t>
            </a:r>
            <a:endParaRPr lang="en-US" dirty="0"/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rPr dirty="0"/>
              <a:t>• Clear language, structure, constraints, and output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2F5BD-94F9-2A6E-07A3-16DA53455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38BC6C-5AA4-2215-6DD4-1C4B8173E8CE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32DE17-ADEF-6092-AB00-4747CCFF8B03}"/>
              </a:ext>
            </a:extLst>
          </p:cNvPr>
          <p:cNvSpPr txBox="1"/>
          <p:nvPr/>
        </p:nvSpPr>
        <p:spPr>
          <a:xfrm>
            <a:off x="457200" y="228600"/>
            <a:ext cx="872168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dirty="0"/>
              <a:t>Prompt Engineering: The CLEAR Framework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BA2674-6699-9792-86D0-D07ED3DE8DB9}"/>
              </a:ext>
            </a:extLst>
          </p:cNvPr>
          <p:cNvSpPr txBox="1"/>
          <p:nvPr/>
        </p:nvSpPr>
        <p:spPr>
          <a:xfrm>
            <a:off x="457200" y="1371600"/>
            <a:ext cx="11277295" cy="455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400" dirty="0"/>
              <a:t>C: Concise – Prioritize important information</a:t>
            </a:r>
          </a:p>
          <a:p>
            <a:pPr>
              <a:lnSpc>
                <a:spcPct val="250000"/>
              </a:lnSpc>
            </a:pPr>
            <a:r>
              <a:rPr lang="en-US" sz="2400" dirty="0"/>
              <a:t>L: Logical – Coherent, with steps in logical order</a:t>
            </a:r>
          </a:p>
          <a:p>
            <a:pPr>
              <a:lnSpc>
                <a:spcPct val="250000"/>
              </a:lnSpc>
            </a:pPr>
            <a:r>
              <a:rPr lang="en-US" sz="2400" dirty="0"/>
              <a:t>E: Explicit – Specific instruction about format, content, scope, persona, tone</a:t>
            </a:r>
          </a:p>
          <a:p>
            <a:pPr>
              <a:lnSpc>
                <a:spcPct val="250000"/>
              </a:lnSpc>
            </a:pPr>
            <a:r>
              <a:rPr lang="en-US" sz="2400" dirty="0"/>
              <a:t>A: Adaptive: Rephrase, split up questions/tasks, follow up</a:t>
            </a:r>
          </a:p>
          <a:p>
            <a:pPr>
              <a:lnSpc>
                <a:spcPct val="250000"/>
              </a:lnSpc>
            </a:pPr>
            <a:r>
              <a:rPr lang="en-US" sz="2400" dirty="0"/>
              <a:t>R: Reflective: Evaluate generated output, use Lateral Reading</a:t>
            </a:r>
          </a:p>
        </p:txBody>
      </p:sp>
    </p:spTree>
    <p:extLst>
      <p:ext uri="{BB962C8B-B14F-4D97-AF65-F5344CB8AC3E}">
        <p14:creationId xmlns:p14="http://schemas.microsoft.com/office/powerpoint/2010/main" val="1657263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8708B-100D-530E-3E92-EBCF45936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28C2A0-14DF-0EC6-1D4F-0F1F89A5D96B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4AF29E-7B00-8BF3-5284-09A6D698E39C}"/>
              </a:ext>
            </a:extLst>
          </p:cNvPr>
          <p:cNvSpPr txBox="1"/>
          <p:nvPr/>
        </p:nvSpPr>
        <p:spPr>
          <a:xfrm>
            <a:off x="457200" y="228600"/>
            <a:ext cx="964789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dirty="0"/>
              <a:t>Prompt Engineering: The Importance of CONTEXT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DCB20E-BD31-F430-C193-BB984D32E4DB}"/>
              </a:ext>
            </a:extLst>
          </p:cNvPr>
          <p:cNvSpPr txBox="1"/>
          <p:nvPr/>
        </p:nvSpPr>
        <p:spPr>
          <a:xfrm>
            <a:off x="457200" y="1371600"/>
            <a:ext cx="11277295" cy="5159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C - Context: What's the situation/background?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O - Objective: What do you want to accomplish?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N - Nuance: Any constraints or preferences?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T - Tone: Formal? Casual? Academic?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E - Example: What does good look like?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X - </a:t>
            </a:r>
            <a:r>
              <a:rPr lang="en-US" sz="2400" dirty="0" err="1"/>
              <a:t>eXpectation</a:t>
            </a:r>
            <a:r>
              <a:rPr lang="en-US" sz="2400" dirty="0"/>
              <a:t>: Format, length, structure?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T – Target Audience: Who is the output for?</a:t>
            </a:r>
          </a:p>
        </p:txBody>
      </p:sp>
    </p:spTree>
    <p:extLst>
      <p:ext uri="{BB962C8B-B14F-4D97-AF65-F5344CB8AC3E}">
        <p14:creationId xmlns:p14="http://schemas.microsoft.com/office/powerpoint/2010/main" val="3022394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AI Can Be Sneaky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3915" y="1199606"/>
            <a:ext cx="11277295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AI will take shortcuts to appear successful. Watch for:</a:t>
            </a:r>
          </a:p>
          <a:p>
            <a:pPr lvl="1"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sz="2000" dirty="0"/>
              <a:t>1. Synthetic Data Substitution</a:t>
            </a:r>
          </a:p>
          <a:p>
            <a:pPr lvl="2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sz="2000" dirty="0"/>
              <a:t>    </a:t>
            </a:r>
            <a:r>
              <a:rPr sz="1600" dirty="0"/>
              <a:t>Can't download dataset? AI may quietly generate fake data instead</a:t>
            </a:r>
          </a:p>
          <a:p>
            <a:pPr lvl="2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sz="1600" dirty="0"/>
              <a:t>    Always verify data sources and check file contents</a:t>
            </a:r>
          </a:p>
          <a:p>
            <a:pPr lvl="1"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sz="2000" dirty="0"/>
              <a:t>2. Simplified Model Swap</a:t>
            </a:r>
          </a:p>
          <a:p>
            <a:pPr lvl="2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sz="2000" dirty="0"/>
              <a:t>    </a:t>
            </a:r>
            <a:r>
              <a:rPr sz="1600" dirty="0"/>
              <a:t>Complex model failing? AI might switch to a simpler one without telling you</a:t>
            </a:r>
          </a:p>
          <a:p>
            <a:pPr lvl="2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sz="1600" dirty="0"/>
              <a:t>    "I used a basic approach for stability" buried in the output</a:t>
            </a:r>
          </a:p>
          <a:p>
            <a:pPr lvl="1"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sz="2000" dirty="0"/>
              <a:t>3. Fabricated Results</a:t>
            </a:r>
          </a:p>
          <a:p>
            <a:pPr lvl="2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sz="2000" dirty="0"/>
              <a:t>    </a:t>
            </a:r>
            <a:r>
              <a:rPr sz="1600" dirty="0"/>
              <a:t>AI can generate plausible-looking numbers, p-values, and statistics</a:t>
            </a:r>
          </a:p>
          <a:p>
            <a:pPr lvl="2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sz="1600" dirty="0"/>
              <a:t>    If results seem too clean or too perfect, investigate</a:t>
            </a:r>
          </a:p>
          <a:p>
            <a:pPr lvl="1"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sz="2000" dirty="0"/>
              <a:t>4. Silently Skipping Errors</a:t>
            </a:r>
          </a:p>
          <a:p>
            <a:pPr lvl="2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sz="1600" dirty="0"/>
              <a:t>    try/except blocks that hide failures</a:t>
            </a:r>
          </a:p>
          <a:p>
            <a:pPr lvl="2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sz="1600" dirty="0"/>
              <a:t>    "Processing complete" when half the files failed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How to Catch Sneaky AI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Always verify independently:</a:t>
            </a:r>
          </a:p>
          <a:p>
            <a:pPr lvl="1"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sz="2000" dirty="0"/>
              <a:t>• Check data sources:</a:t>
            </a:r>
          </a:p>
          <a:p>
            <a:pPr lvl="2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sz="2000" dirty="0"/>
              <a:t>    "Show me the first 10 rows of the data you loaded"</a:t>
            </a:r>
          </a:p>
          <a:p>
            <a:pPr lvl="2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sz="2000" dirty="0"/>
              <a:t>    "Print the file path and size of each input file"</a:t>
            </a:r>
          </a:p>
          <a:p>
            <a:pPr lvl="1"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sz="2000" dirty="0"/>
              <a:t>• Verify model complexity:</a:t>
            </a:r>
          </a:p>
          <a:p>
            <a:pPr lvl="2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sz="2000" dirty="0"/>
              <a:t>    "Explain exactly which model/algorithm you used and why"</a:t>
            </a:r>
          </a:p>
          <a:p>
            <a:pPr lvl="2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sz="2000" dirty="0"/>
              <a:t>    "Show me the model architecture or formula"</a:t>
            </a:r>
          </a:p>
          <a:p>
            <a:pPr lvl="1"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sz="2000" dirty="0"/>
              <a:t>• Validate results:</a:t>
            </a:r>
          </a:p>
          <a:p>
            <a:pPr lvl="2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sz="2000" dirty="0"/>
              <a:t>    "How did you calculate that p-value? Show the intermediate steps"</a:t>
            </a:r>
          </a:p>
          <a:p>
            <a:pPr lvl="2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sz="2000" dirty="0"/>
              <a:t>    "Run this on a subset where I know the answer"</a:t>
            </a:r>
          </a:p>
          <a:p>
            <a:pPr lvl="1"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sz="2000" dirty="0"/>
              <a:t>• Explicit error reporting:</a:t>
            </a:r>
          </a:p>
          <a:p>
            <a:pPr lvl="2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sz="2000" dirty="0"/>
              <a:t>    "Print every error encountered, do not use silent try/except"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 4: Live Demo</a:t>
            </a:r>
            <a:br/>
            <a:r>
              <a:t>Linear Regression from Scratch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Demo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313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We'll build a linear regression implementation from scratch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Then validate it using 5 best practices:</a:t>
            </a:r>
          </a:p>
          <a:p>
            <a:pPr lvl="1">
              <a:lnSpc>
                <a:spcPct val="150000"/>
              </a:lnSpc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1. Synthetic Data Validation - test with known answers</a:t>
            </a:r>
          </a:p>
          <a:p>
            <a:pPr lvl="1">
              <a:lnSpc>
                <a:spcPct val="150000"/>
              </a:lnSpc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2. Theoretical Validation - verify statistical properties</a:t>
            </a:r>
          </a:p>
          <a:p>
            <a:pPr lvl="1">
              <a:lnSpc>
                <a:spcPct val="150000"/>
              </a:lnSpc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3. Cross-AI Validation - get a second opinion</a:t>
            </a:r>
          </a:p>
          <a:p>
            <a:pPr lvl="1">
              <a:lnSpc>
                <a:spcPct val="150000"/>
              </a:lnSpc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4. Unit Test Generation - automated edge case testing</a:t>
            </a:r>
          </a:p>
          <a:p>
            <a:pPr lvl="1">
              <a:lnSpc>
                <a:spcPct val="150000"/>
              </a:lnSpc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5. Code Restructuring &amp; Documentation - make it maintainable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All prompts shown on slides for you to use later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Demo Step 1: Initial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PROMPT: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11643055" cy="45720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7729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rPr dirty="0"/>
              <a:t>Create a Python class called </a:t>
            </a:r>
            <a:r>
              <a:rPr dirty="0" err="1"/>
              <a:t>LinearRegression</a:t>
            </a:r>
            <a:r>
              <a:rPr dirty="0"/>
              <a:t> that implements</a:t>
            </a:r>
            <a:br>
              <a:rPr dirty="0"/>
            </a:br>
            <a:r>
              <a:rPr dirty="0"/>
              <a:t>ordinary least squares from scratch.</a:t>
            </a:r>
            <a:br>
              <a:rPr dirty="0"/>
            </a:br>
            <a:br>
              <a:rPr dirty="0"/>
            </a:br>
            <a:r>
              <a:rPr dirty="0"/>
              <a:t>Requirements:</a:t>
            </a:r>
            <a:br>
              <a:rPr dirty="0"/>
            </a:br>
            <a:r>
              <a:rPr dirty="0"/>
              <a:t>- Use only NumPy (no </a:t>
            </a:r>
            <a:r>
              <a:rPr dirty="0" err="1"/>
              <a:t>sklearn</a:t>
            </a:r>
            <a:r>
              <a:rPr dirty="0"/>
              <a:t>)</a:t>
            </a:r>
            <a:br>
              <a:rPr dirty="0"/>
            </a:br>
            <a:r>
              <a:rPr dirty="0"/>
              <a:t>- Methods: fit(X, y) and predict(X)</a:t>
            </a:r>
            <a:br>
              <a:rPr dirty="0"/>
            </a:br>
            <a:r>
              <a:rPr dirty="0"/>
              <a:t>- Properties: coefficients, intercept, </a:t>
            </a:r>
            <a:r>
              <a:rPr dirty="0" err="1"/>
              <a:t>r_squared</a:t>
            </a:r>
            <a:r>
              <a:rPr dirty="0"/>
              <a:t>, </a:t>
            </a:r>
            <a:r>
              <a:rPr dirty="0" err="1"/>
              <a:t>standard_errors</a:t>
            </a:r>
            <a:br>
              <a:rPr dirty="0"/>
            </a:br>
            <a:r>
              <a:rPr dirty="0"/>
              <a:t>- fit() should calculate all statistics</a:t>
            </a:r>
            <a:br>
              <a:rPr dirty="0"/>
            </a:br>
            <a:r>
              <a:rPr dirty="0"/>
              <a:t>- Save as linear_regression.py</a:t>
            </a:r>
            <a:endParaRPr lang="en-US" dirty="0"/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rPr lang="en-US" dirty="0"/>
              <a:t>- Store project on /</a:t>
            </a:r>
            <a:r>
              <a:rPr lang="en-US" dirty="0" err="1"/>
              <a:t>livedemo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Demo Step 2: Add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PROMPT: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11643055" cy="45720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772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rPr dirty="0"/>
              <a:t>Add a method called </a:t>
            </a:r>
            <a:r>
              <a:rPr dirty="0" err="1"/>
              <a:t>plot_fit</a:t>
            </a:r>
            <a:r>
              <a:rPr dirty="0"/>
              <a:t>() to the </a:t>
            </a:r>
            <a:r>
              <a:rPr dirty="0" err="1"/>
              <a:t>LinearRegression</a:t>
            </a:r>
            <a:r>
              <a:rPr dirty="0"/>
              <a:t> class that:</a:t>
            </a:r>
            <a:br>
              <a:rPr dirty="0"/>
            </a:br>
            <a:r>
              <a:rPr dirty="0"/>
              <a:t>- Creates a scatter plot of the data points</a:t>
            </a:r>
            <a:br>
              <a:rPr dirty="0"/>
            </a:br>
            <a:r>
              <a:rPr dirty="0"/>
              <a:t>- Overlays the fitted regression line</a:t>
            </a:r>
            <a:br>
              <a:rPr dirty="0"/>
            </a:br>
            <a:r>
              <a:rPr dirty="0"/>
              <a:t>- Displays the equation (y = mx + b) and R-squared on the plot</a:t>
            </a:r>
            <a:br>
              <a:rPr dirty="0"/>
            </a:br>
            <a:r>
              <a:rPr dirty="0"/>
              <a:t>- Uses matplotlib</a:t>
            </a:r>
            <a:br>
              <a:rPr dirty="0"/>
            </a:br>
            <a:r>
              <a:rPr dirty="0"/>
              <a:t>- Saves the plot as regression_plot.png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Demo Step 3: Summary Table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PROMPT: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11643055" cy="45720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772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rPr dirty="0"/>
              <a:t>Add a method called summary() that prints a formatted table showing:</a:t>
            </a:r>
            <a:br>
              <a:rPr dirty="0"/>
            </a:br>
            <a:r>
              <a:rPr dirty="0"/>
              <a:t>- Coefficient estimates</a:t>
            </a:r>
            <a:br>
              <a:rPr dirty="0"/>
            </a:br>
            <a:r>
              <a:rPr dirty="0"/>
              <a:t>- Standard errors</a:t>
            </a:r>
            <a:br>
              <a:rPr dirty="0"/>
            </a:br>
            <a:r>
              <a:rPr dirty="0"/>
              <a:t>- t-statistics</a:t>
            </a:r>
            <a:br>
              <a:rPr dirty="0"/>
            </a:br>
            <a:r>
              <a:rPr dirty="0"/>
              <a:t>- p-values</a:t>
            </a:r>
            <a:br>
              <a:rPr dirty="0"/>
            </a:br>
            <a:r>
              <a:rPr dirty="0"/>
              <a:t>- R-squared and adjusted R-squared</a:t>
            </a:r>
            <a:br>
              <a:rPr dirty="0"/>
            </a:br>
            <a:r>
              <a:rPr dirty="0"/>
              <a:t>- Number of observations</a:t>
            </a:r>
            <a:br>
              <a:rPr dirty="0"/>
            </a:br>
            <a:br>
              <a:rPr dirty="0"/>
            </a:br>
            <a:r>
              <a:rPr dirty="0"/>
              <a:t>Make it look similar to </a:t>
            </a:r>
            <a:r>
              <a:rPr dirty="0" err="1"/>
              <a:t>statsmodels</a:t>
            </a:r>
            <a:r>
              <a:rPr dirty="0"/>
              <a:t> output.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Best Practice #1</a:t>
            </a:r>
            <a:br/>
            <a:r>
              <a:t>Synthetic Data Validation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Synthetic Data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"Test with known answers"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When you KNOW the true parameters, you can verify the code recovers them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Why this works: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Generate data: y = 2x + 5 + noise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Fit model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Check: Does it estimate slope ≈ 2, intercept ≈ 5?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If yes → code is likely correct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If no → something is wrong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Synthetic Validation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PROMPT: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11643055" cy="50292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72236"/>
            <a:ext cx="11277295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rPr dirty="0"/>
              <a:t>Create a validation script that:</a:t>
            </a:r>
            <a:br>
              <a:rPr dirty="0"/>
            </a:br>
            <a:br>
              <a:rPr dirty="0"/>
            </a:br>
            <a:r>
              <a:rPr dirty="0"/>
              <a:t>1. Generates 5 synthetic datasets with KNOWN parameters:</a:t>
            </a:r>
            <a:br>
              <a:rPr dirty="0"/>
            </a:br>
            <a:r>
              <a:rPr dirty="0"/>
              <a:t>   - Dataset 1: slope=2.0, intercept=5.0, </a:t>
            </a:r>
            <a:r>
              <a:rPr dirty="0" err="1"/>
              <a:t>noise_sd</a:t>
            </a:r>
            <a:r>
              <a:rPr dirty="0"/>
              <a:t>=1.0, n=1000</a:t>
            </a:r>
            <a:br>
              <a:rPr dirty="0"/>
            </a:br>
            <a:r>
              <a:rPr dirty="0"/>
              <a:t>   - Dataset 2: slope=-1.5, intercept=10.0, </a:t>
            </a:r>
            <a:r>
              <a:rPr dirty="0" err="1"/>
              <a:t>noise_sd</a:t>
            </a:r>
            <a:r>
              <a:rPr dirty="0"/>
              <a:t>=0.5, n=1000</a:t>
            </a:r>
            <a:br>
              <a:rPr dirty="0"/>
            </a:br>
            <a:r>
              <a:rPr dirty="0"/>
              <a:t>   - Dataset 3: slope=0.0, intercept=3.0, </a:t>
            </a:r>
            <a:r>
              <a:rPr dirty="0" err="1"/>
              <a:t>noise_sd</a:t>
            </a:r>
            <a:r>
              <a:rPr dirty="0"/>
              <a:t>=2.0, n=1000</a:t>
            </a:r>
            <a:br>
              <a:rPr dirty="0"/>
            </a:br>
            <a:r>
              <a:rPr dirty="0"/>
              <a:t>   - Dataset 4: slope=5.0, intercept=0.0, </a:t>
            </a:r>
            <a:r>
              <a:rPr dirty="0" err="1"/>
              <a:t>noise_sd</a:t>
            </a:r>
            <a:r>
              <a:rPr dirty="0"/>
              <a:t>=1.0, n=1000</a:t>
            </a:r>
            <a:br>
              <a:rPr dirty="0"/>
            </a:br>
            <a:r>
              <a:rPr dirty="0"/>
              <a:t>   - Dataset 5: slope=1.0, intercept=1.0, </a:t>
            </a:r>
            <a:r>
              <a:rPr dirty="0" err="1"/>
              <a:t>noise_sd</a:t>
            </a:r>
            <a:r>
              <a:rPr dirty="0"/>
              <a:t>=0.1, n=1000</a:t>
            </a:r>
            <a:endParaRPr lang="en-US" dirty="0"/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rPr lang="en-US" dirty="0"/>
              <a:t>   - Dataset 6: slope=1.0, intercept=1.0, </a:t>
            </a:r>
            <a:r>
              <a:rPr lang="en-US" dirty="0" err="1"/>
              <a:t>noise_sd</a:t>
            </a:r>
            <a:r>
              <a:rPr lang="en-US" dirty="0"/>
              <a:t>=0, n=1000</a:t>
            </a:r>
            <a:br>
              <a:rPr dirty="0"/>
            </a:br>
            <a:br>
              <a:rPr dirty="0"/>
            </a:br>
            <a:r>
              <a:rPr dirty="0"/>
              <a:t>2. Fits our </a:t>
            </a:r>
            <a:r>
              <a:rPr dirty="0" err="1"/>
              <a:t>LinearRegression</a:t>
            </a:r>
            <a:r>
              <a:rPr dirty="0"/>
              <a:t> model to each dataset</a:t>
            </a:r>
            <a:br>
              <a:rPr dirty="0"/>
            </a:br>
            <a:br>
              <a:rPr dirty="0"/>
            </a:br>
            <a:r>
              <a:rPr dirty="0"/>
              <a:t>3. Outputs a comparison table showing:</a:t>
            </a:r>
            <a:br>
              <a:rPr dirty="0"/>
            </a:br>
            <a:r>
              <a:rPr dirty="0"/>
              <a:t>   | Dataset | True Slope | Est. Slope | True Intercept | Est. Intercept |</a:t>
            </a:r>
            <a:br>
              <a:rPr dirty="0"/>
            </a:br>
            <a:br>
              <a:rPr dirty="0"/>
            </a:br>
            <a:r>
              <a:rPr dirty="0"/>
              <a:t>4. </a:t>
            </a:r>
            <a:r>
              <a:rPr lang="en-US" dirty="0"/>
              <a:t>Report whether each estimate is within the 95% confidence interval (approx. 2 standard errors) of the truth.</a:t>
            </a:r>
            <a:br>
              <a:rPr dirty="0"/>
            </a:br>
            <a:br>
              <a:rPr dirty="0"/>
            </a:br>
            <a:r>
              <a:rPr dirty="0"/>
              <a:t>Save as validate_synthetic.py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A65ED-7131-786D-43D7-2E5933503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191A99-5970-7B77-01DD-AF3184DA48C8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A30EA7-45F4-0E70-9D9F-F07D6AFCA153}"/>
              </a:ext>
            </a:extLst>
          </p:cNvPr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Synthetic Data Validation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2F5A14-6387-FE20-A4DD-A7C9A9A46EB6}"/>
              </a:ext>
            </a:extLst>
          </p:cNvPr>
          <p:cNvSpPr txBox="1"/>
          <p:nvPr/>
        </p:nvSpPr>
        <p:spPr>
          <a:xfrm>
            <a:off x="457352" y="1188720"/>
            <a:ext cx="11277295" cy="5544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</a:t>
            </a:r>
            <a:r>
              <a:rPr lang="en-US" dirty="0"/>
              <a:t> Does this rule out the possibility of any errors? No.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lang="en-US" dirty="0"/>
              <a:t>• But in practice, we can’t really be sure of code we import from others – even libraries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lang="en-US" dirty="0"/>
              <a:t>• Even more so when we are the ones that implemented it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lang="en-US" dirty="0"/>
              <a:t>	 • We get more confident, rather than sure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lang="en-US" dirty="0"/>
              <a:t>• Can easily be adapted to other scenarios: 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lang="en-US" dirty="0"/>
              <a:t>	 • Artificial text for NLP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lang="en-US" dirty="0"/>
              <a:t>	 • Factor Models for PCA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lang="en-US" dirty="0"/>
              <a:t>	 • Data with known decision boundaries for Classification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64328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Best Practice #2</a:t>
            </a:r>
            <a:br/>
            <a:r>
              <a:t>Theoretical Validation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Theoretical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697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"Does the code respect statistical theory?"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Statistical theory makes specific predictions:</a:t>
            </a:r>
          </a:p>
          <a:p>
            <a:pPr lvl="1">
              <a:lnSpc>
                <a:spcPct val="150000"/>
              </a:lnSpc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Larger sample → smaller standard errors</a:t>
            </a:r>
          </a:p>
          <a:p>
            <a:pPr lvl="1">
              <a:lnSpc>
                <a:spcPct val="150000"/>
              </a:lnSpc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More noise → larger standard errors</a:t>
            </a:r>
          </a:p>
          <a:p>
            <a:pPr lvl="1">
              <a:lnSpc>
                <a:spcPct val="150000"/>
              </a:lnSpc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Quadruple n → SE reduced by half (1/√n relationship)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If the code violates these properties, something is wrong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This catches subtle bugs that synthetic validation might miss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Theoretical Validation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99" y="11430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PROMPT: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589314"/>
            <a:ext cx="11643055" cy="5268686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689463"/>
            <a:ext cx="1127729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rPr lang="en-US" dirty="0"/>
              <a:t>Create a script that tests whether our </a:t>
            </a:r>
            <a:r>
              <a:rPr lang="en-US" dirty="0" err="1"/>
              <a:t>LinearRegression</a:t>
            </a:r>
            <a:br>
              <a:rPr lang="en-US" dirty="0"/>
            </a:br>
            <a:r>
              <a:rPr lang="en-US" dirty="0"/>
              <a:t>implementation respects known statistical properties: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Test 1 - Sample Size Effect:</a:t>
            </a:r>
            <a:br>
              <a:rPr lang="en-US" dirty="0"/>
            </a:br>
            <a:r>
              <a:rPr lang="en-US" dirty="0"/>
              <a:t>- Generate data with slope=2, intercept=5, </a:t>
            </a:r>
            <a:r>
              <a:rPr lang="en-US" dirty="0" err="1"/>
              <a:t>noise_sd</a:t>
            </a:r>
            <a:r>
              <a:rPr lang="en-US" dirty="0"/>
              <a:t>=1</a:t>
            </a:r>
            <a:br>
              <a:rPr lang="en-US" dirty="0"/>
            </a:br>
            <a:r>
              <a:rPr lang="en-US" dirty="0"/>
              <a:t>- Fit model with n=100, n=400, n=1600</a:t>
            </a:r>
            <a:br>
              <a:rPr lang="en-US" dirty="0"/>
            </a:br>
            <a:r>
              <a:rPr lang="en-US" dirty="0"/>
              <a:t>- Verify that standard errors decrease proportionally to 1/sqrt(n)</a:t>
            </a:r>
            <a:br>
              <a:rPr lang="en-US" dirty="0"/>
            </a:br>
            <a:r>
              <a:rPr lang="en-US" dirty="0"/>
              <a:t>- (SE should halve when n quadruples)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Test 2 - Noise Variance Effect:</a:t>
            </a:r>
            <a:br>
              <a:rPr lang="en-US" dirty="0"/>
            </a:br>
            <a:r>
              <a:rPr lang="en-US" dirty="0"/>
              <a:t>- Generate data with slope=2, intercept=5, n=1000</a:t>
            </a:r>
            <a:br>
              <a:rPr lang="en-US" dirty="0"/>
            </a:br>
            <a:r>
              <a:rPr lang="en-US" dirty="0"/>
              <a:t>- Fit model with </a:t>
            </a:r>
            <a:r>
              <a:rPr lang="en-US" dirty="0" err="1"/>
              <a:t>noise_sd</a:t>
            </a:r>
            <a:r>
              <a:rPr lang="en-US" dirty="0"/>
              <a:t>=0.5, 1.0, 2.0</a:t>
            </a:r>
            <a:br>
              <a:rPr lang="en-US" dirty="0"/>
            </a:br>
            <a:r>
              <a:rPr lang="en-US" dirty="0"/>
              <a:t>- Verify that standard errors scale proportionally to </a:t>
            </a:r>
            <a:r>
              <a:rPr lang="en-US" dirty="0" err="1"/>
              <a:t>noise_sd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Test 3 - Duplicated Sample:</a:t>
            </a:r>
            <a:br>
              <a:rPr lang="en-US" dirty="0"/>
            </a:br>
            <a:r>
              <a:rPr lang="en-US" dirty="0"/>
              <a:t>- Generate n=500 observations</a:t>
            </a:r>
            <a:br>
              <a:rPr lang="en-US" dirty="0"/>
            </a:br>
            <a:r>
              <a:rPr lang="en-US" dirty="0"/>
              <a:t>- Fit model on original data, then on duplicated data (n=1000)</a:t>
            </a:r>
            <a:br>
              <a:rPr lang="en-US" dirty="0"/>
            </a:br>
            <a:r>
              <a:rPr lang="en-US" dirty="0"/>
              <a:t>- Verify that standard errors decrease by exactly 1/sqrt(2) (~0.707)</a:t>
            </a:r>
            <a:br>
              <a:rPr lang="en-US" dirty="0"/>
            </a:br>
            <a:r>
              <a:rPr lang="en-US" dirty="0"/>
              <a:t>- This confirms the implementation strictly follows the OLS formula: SE = sqrt(sigma^2 * inv(X'X))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Save as validate_theory.py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Best Practice #3</a:t>
            </a:r>
            <a:br/>
            <a:r>
              <a:t>Cross-AI Validation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Cross-AI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sz="2200" dirty="0"/>
              <a:t>• "Get a second opinion"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sz="2200" dirty="0"/>
              <a:t>• Different AI models have different: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sz="2000" dirty="0"/>
              <a:t>    Training data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sz="2000" dirty="0"/>
              <a:t>    Biases and blind spots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sz="2000" dirty="0"/>
              <a:t>    Approaches to problems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sz="2200" dirty="0"/>
              <a:t>• If two independent AIs agree → higher confidence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sz="2200" dirty="0"/>
              <a:t>• If they disagree → investigate further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sz="2200" dirty="0"/>
              <a:t>• Options: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sz="2000" dirty="0"/>
              <a:t>    Ask Claude to review Gemini's code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sz="2000" dirty="0"/>
              <a:t>    Compare against </a:t>
            </a:r>
            <a:r>
              <a:rPr sz="2000" dirty="0" err="1"/>
              <a:t>sklearn's</a:t>
            </a:r>
            <a:r>
              <a:rPr sz="2000" dirty="0"/>
              <a:t> implementation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sz="2000" dirty="0"/>
              <a:t>    Use ChatGPT as a code reviewer</a:t>
            </a:r>
            <a:endParaRPr lang="en-US" sz="2000" dirty="0"/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lang="en-US" sz="2000" dirty="0"/>
              <a:t>    Even a fresh session using the same AI!</a:t>
            </a:r>
            <a:endParaRPr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Cross-AI Validation: Ask Claude to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PROMPT FOR CLAUDE: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11643055" cy="45720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7729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rPr dirty="0"/>
              <a:t>Review this </a:t>
            </a:r>
            <a:r>
              <a:rPr dirty="0" err="1"/>
              <a:t>LinearRegression</a:t>
            </a:r>
            <a:r>
              <a:rPr dirty="0"/>
              <a:t> implementation for correctness.</a:t>
            </a:r>
            <a:br>
              <a:rPr dirty="0"/>
            </a:br>
            <a:br>
              <a:rPr dirty="0"/>
            </a:br>
            <a:r>
              <a:rPr dirty="0"/>
              <a:t>Check:</a:t>
            </a:r>
            <a:br>
              <a:rPr dirty="0"/>
            </a:br>
            <a:r>
              <a:rPr dirty="0"/>
              <a:t>1. Is the OLS math correct?</a:t>
            </a:r>
            <a:br>
              <a:rPr dirty="0"/>
            </a:br>
            <a:r>
              <a:rPr dirty="0"/>
              <a:t>2. Are standard errors calculated properly?</a:t>
            </a:r>
            <a:br>
              <a:rPr dirty="0"/>
            </a:br>
            <a:r>
              <a:rPr dirty="0"/>
              <a:t>3. Are there any edge cases not handled?</a:t>
            </a:r>
            <a:br>
              <a:rPr dirty="0"/>
            </a:br>
            <a:r>
              <a:rPr dirty="0"/>
              <a:t>4. Any numerical stability concerns?</a:t>
            </a:r>
            <a:br>
              <a:rPr dirty="0"/>
            </a:br>
            <a:r>
              <a:rPr dirty="0"/>
              <a:t>5. Does the code follow best practices?</a:t>
            </a:r>
            <a:br>
              <a:rPr dirty="0"/>
            </a:b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Cross-AI Validation: Compare to sklearn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PROMPT FOR GEMINI: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11643055" cy="45720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772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rPr dirty="0"/>
              <a:t>Compare our </a:t>
            </a:r>
            <a:r>
              <a:rPr dirty="0" err="1"/>
              <a:t>LinearRegression</a:t>
            </a:r>
            <a:r>
              <a:rPr dirty="0"/>
              <a:t> implementation against </a:t>
            </a:r>
            <a:r>
              <a:rPr dirty="0" err="1"/>
              <a:t>sklearn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Create a script that:</a:t>
            </a:r>
            <a:br>
              <a:rPr dirty="0"/>
            </a:br>
            <a:r>
              <a:rPr dirty="0"/>
              <a:t>1. Generates test data (n=1000, slope=2, intercept=5)</a:t>
            </a:r>
            <a:br>
              <a:rPr dirty="0"/>
            </a:br>
            <a:r>
              <a:rPr dirty="0"/>
              <a:t>2. Fits both our model and </a:t>
            </a:r>
            <a:r>
              <a:rPr dirty="0" err="1"/>
              <a:t>sklearn's</a:t>
            </a:r>
            <a:r>
              <a:rPr dirty="0"/>
              <a:t> </a:t>
            </a:r>
            <a:r>
              <a:rPr dirty="0" err="1"/>
              <a:t>LinearRegression</a:t>
            </a:r>
            <a:br>
              <a:rPr dirty="0"/>
            </a:br>
            <a:r>
              <a:rPr dirty="0"/>
              <a:t>3. Compares:</a:t>
            </a:r>
            <a:br>
              <a:rPr dirty="0"/>
            </a:br>
            <a:r>
              <a:rPr dirty="0"/>
              <a:t>   - Coefficients</a:t>
            </a:r>
            <a:br>
              <a:rPr dirty="0"/>
            </a:br>
            <a:r>
              <a:rPr dirty="0"/>
              <a:t>   - Intercepts</a:t>
            </a:r>
            <a:br>
              <a:rPr dirty="0"/>
            </a:br>
            <a:r>
              <a:rPr dirty="0"/>
              <a:t>   - Predictions on test points</a:t>
            </a:r>
            <a:br>
              <a:rPr dirty="0"/>
            </a:br>
            <a:r>
              <a:rPr dirty="0"/>
              <a:t>4. Reports whether they match to numerical precision (1e-10)</a:t>
            </a:r>
            <a:br>
              <a:rPr dirty="0"/>
            </a:br>
            <a:br>
              <a:rPr dirty="0"/>
            </a:br>
            <a:r>
              <a:rPr dirty="0"/>
              <a:t>Save as compare_sklearn.py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Best Practice #4</a:t>
            </a:r>
            <a:br/>
            <a:r>
              <a:t>Unit Test Generation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Unit Test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"Make the AI prove its own code works"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Unit tests catch edge cases you might not think of: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Empty datasets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Single data points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Perfect correlations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Undefined cases (constant X)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Benefits: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Automated verification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Prevents regressions when code changes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Documents expected behavior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Reveals assumptions in the code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Unit Test Generation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PROMPT: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11643055" cy="45720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772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rPr dirty="0"/>
              <a:t>Generate comprehensive unit tests for the </a:t>
            </a:r>
            <a:r>
              <a:rPr dirty="0" err="1"/>
              <a:t>LinearRegression</a:t>
            </a:r>
            <a:r>
              <a:rPr dirty="0"/>
              <a:t> class.</a:t>
            </a:r>
            <a:br>
              <a:rPr dirty="0"/>
            </a:br>
            <a:br>
              <a:rPr dirty="0"/>
            </a:br>
            <a:r>
              <a:rPr dirty="0"/>
              <a:t>Use </a:t>
            </a:r>
            <a:r>
              <a:rPr dirty="0" err="1"/>
              <a:t>pytest</a:t>
            </a:r>
            <a:r>
              <a:rPr dirty="0"/>
              <a:t> and test:</a:t>
            </a:r>
            <a:br>
              <a:rPr dirty="0"/>
            </a:br>
            <a:r>
              <a:rPr dirty="0"/>
              <a:t>1. Perfect linear relationship (R-squared should equal 1.0)</a:t>
            </a:r>
            <a:br>
              <a:rPr dirty="0"/>
            </a:br>
            <a:r>
              <a:rPr dirty="0"/>
              <a:t>2. Random noise only (R-squared should be near 0)</a:t>
            </a:r>
            <a:br>
              <a:rPr dirty="0"/>
            </a:br>
            <a:r>
              <a:rPr dirty="0"/>
              <a:t>3. Single data point (should raise error or handle gracefully)</a:t>
            </a:r>
            <a:br>
              <a:rPr dirty="0"/>
            </a:br>
            <a:r>
              <a:rPr dirty="0"/>
              <a:t>4. Empty dataset (should raise appropriate error)</a:t>
            </a:r>
            <a:br>
              <a:rPr dirty="0"/>
            </a:br>
            <a:r>
              <a:rPr dirty="0"/>
              <a:t>5. Constant Y values (slope should be 0)</a:t>
            </a:r>
            <a:br>
              <a:rPr dirty="0"/>
            </a:br>
            <a:r>
              <a:rPr dirty="0"/>
              <a:t>6. Constant X values (undefined slope - should handle)</a:t>
            </a:r>
            <a:br>
              <a:rPr dirty="0"/>
            </a:br>
            <a:r>
              <a:rPr dirty="0"/>
              <a:t>7. Negative slope recovery</a:t>
            </a:r>
            <a:br>
              <a:rPr dirty="0"/>
            </a:br>
            <a:r>
              <a:rPr dirty="0"/>
              <a:t>8. Large dataset performance (n=100,000)</a:t>
            </a:r>
            <a:br>
              <a:rPr dirty="0"/>
            </a:br>
            <a:r>
              <a:rPr dirty="0"/>
              <a:t>9. Prediction on new data matches expected values</a:t>
            </a:r>
            <a:br>
              <a:rPr dirty="0"/>
            </a:br>
            <a:br>
              <a:rPr dirty="0"/>
            </a:br>
            <a:r>
              <a:rPr dirty="0"/>
              <a:t>Save as test_linear_regression.py and run the tests.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44946-4DA9-686C-99C9-90D406073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46FAD2-5C3B-62CB-F333-664394888057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713229-4425-4E54-21FD-93AF7F1EE1B3}"/>
              </a:ext>
            </a:extLst>
          </p:cNvPr>
          <p:cNvSpPr txBox="1"/>
          <p:nvPr/>
        </p:nvSpPr>
        <p:spPr>
          <a:xfrm>
            <a:off x="457200" y="228600"/>
            <a:ext cx="444519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dirty="0"/>
              <a:t>Putting it into Practice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B8C615-7C0F-842E-BD59-25E11377593E}"/>
              </a:ext>
            </a:extLst>
          </p:cNvPr>
          <p:cNvSpPr txBox="1">
            <a:spLocks/>
          </p:cNvSpPr>
          <p:nvPr/>
        </p:nvSpPr>
        <p:spPr>
          <a:xfrm>
            <a:off x="457199" y="1325880"/>
            <a:ext cx="11277295" cy="5544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lang="en-US" dirty="0"/>
              <a:t>Let’s see how we would use this in practice</a:t>
            </a:r>
            <a:endParaRPr dirty="0"/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</a:t>
            </a:r>
            <a:r>
              <a:rPr lang="en-US" dirty="0"/>
              <a:t> We generated synthetic data to simulate a study about caffeine and productivity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lang="en-US" dirty="0"/>
              <a:t>• Dataset: productivity_study.csv ($N=100$)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lang="en-US" dirty="0"/>
              <a:t>		• Independent (X): </a:t>
            </a:r>
            <a:r>
              <a:rPr lang="en-US" dirty="0" err="1"/>
              <a:t>Coffee_Cups</a:t>
            </a:r>
            <a:r>
              <a:rPr lang="en-US" dirty="0"/>
              <a:t> (Average cups per day)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lang="en-US" dirty="0"/>
              <a:t> 		• Dependent (y): </a:t>
            </a:r>
            <a:r>
              <a:rPr lang="en-US" dirty="0" err="1"/>
              <a:t>Productivity_Score</a:t>
            </a:r>
            <a:r>
              <a:rPr lang="en-US" dirty="0"/>
              <a:t> (Self-reported, 0-100)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lang="en-US" dirty="0"/>
              <a:t>• We will ask a new session of Gemini to use our method on this dataset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lang="en-US" dirty="0"/>
              <a:t>• But we will not give it context – we will use a fresh new session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lang="en-US" dirty="0"/>
              <a:t>• Gemini will have to read the data and </a:t>
            </a:r>
            <a:r>
              <a:rPr lang="en-US" dirty="0" err="1"/>
              <a:t>livedemo</a:t>
            </a:r>
            <a:r>
              <a:rPr lang="en-US" dirty="0"/>
              <a:t> and understand the file structure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0427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0A58A-B95F-C1F8-EA9F-553023E73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B5AB3C-DBFD-66BC-FDB4-6D8C02BF584B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15A9D9-8BD4-6F7A-E7C3-8F82D20EC462}"/>
              </a:ext>
            </a:extLst>
          </p:cNvPr>
          <p:cNvSpPr txBox="1"/>
          <p:nvPr/>
        </p:nvSpPr>
        <p:spPr>
          <a:xfrm>
            <a:off x="457200" y="228600"/>
            <a:ext cx="444519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dirty="0"/>
              <a:t>Putting it into Practice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FCF98B-2C56-925F-562C-939E08AD1502}"/>
              </a:ext>
            </a:extLst>
          </p:cNvPr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PROMPT: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7BA8F4E-EFF7-1123-04C7-D2B256758F8C}"/>
              </a:ext>
            </a:extLst>
          </p:cNvPr>
          <p:cNvSpPr/>
          <p:nvPr/>
        </p:nvSpPr>
        <p:spPr>
          <a:xfrm>
            <a:off x="274320" y="1828800"/>
            <a:ext cx="11643055" cy="45720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D3EAEE-696D-C07B-37A7-A3FC0F8AC6CA}"/>
              </a:ext>
            </a:extLst>
          </p:cNvPr>
          <p:cNvSpPr txBox="1"/>
          <p:nvPr/>
        </p:nvSpPr>
        <p:spPr>
          <a:xfrm>
            <a:off x="457200" y="2011680"/>
            <a:ext cx="11277295" cy="374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DCDCDC"/>
                </a:solidFill>
                <a:latin typeface="Consolas"/>
              </a:defRPr>
            </a:pPr>
            <a:r>
              <a:rPr lang="en-US" dirty="0"/>
              <a:t>I have a dataset in 'Data/productivity_study.csv' and a custom regression class in '</a:t>
            </a:r>
            <a:r>
              <a:rPr lang="en-US" dirty="0" err="1"/>
              <a:t>livedemo</a:t>
            </a:r>
            <a:r>
              <a:rPr lang="en-US" dirty="0"/>
              <a:t>/linear_regression.py’.</a:t>
            </a:r>
          </a:p>
          <a:p>
            <a:pPr>
              <a:lnSpc>
                <a:spcPct val="150000"/>
              </a:lnSpc>
              <a:defRPr sz="1600">
                <a:solidFill>
                  <a:srgbClr val="DCDCDC"/>
                </a:solidFill>
                <a:latin typeface="Consolas"/>
              </a:defRPr>
            </a:pPr>
            <a:endParaRPr lang="en-US" dirty="0"/>
          </a:p>
          <a:p>
            <a:pPr>
              <a:lnSpc>
                <a:spcPct val="150000"/>
              </a:lnSpc>
              <a:defRPr sz="1600">
                <a:solidFill>
                  <a:srgbClr val="DCDCDC"/>
                </a:solidFill>
                <a:latin typeface="Consolas"/>
              </a:defRPr>
            </a:pPr>
            <a:r>
              <a:rPr lang="en-US" dirty="0"/>
              <a:t>Please perform a quick analysis:</a:t>
            </a:r>
          </a:p>
          <a:p>
            <a:pPr>
              <a:lnSpc>
                <a:spcPct val="150000"/>
              </a:lnSpc>
              <a:defRPr sz="1600">
                <a:solidFill>
                  <a:srgbClr val="DCDCDC"/>
                </a:solidFill>
                <a:latin typeface="Consolas"/>
              </a:defRPr>
            </a:pPr>
            <a:r>
              <a:rPr lang="en-US" dirty="0"/>
              <a:t>1. Load the data</a:t>
            </a:r>
          </a:p>
          <a:p>
            <a:pPr>
              <a:lnSpc>
                <a:spcPct val="150000"/>
              </a:lnSpc>
              <a:defRPr sz="1600">
                <a:solidFill>
                  <a:srgbClr val="DCDCDC"/>
                </a:solidFill>
                <a:latin typeface="Consolas"/>
              </a:defRPr>
            </a:pPr>
            <a:r>
              <a:rPr lang="en-US" dirty="0"/>
              <a:t>2. Import and use my </a:t>
            </a:r>
            <a:r>
              <a:rPr lang="en-US" dirty="0" err="1"/>
              <a:t>LinearRegression</a:t>
            </a:r>
            <a:r>
              <a:rPr lang="en-US" dirty="0"/>
              <a:t> class to model '</a:t>
            </a:r>
            <a:r>
              <a:rPr lang="en-US" dirty="0" err="1"/>
              <a:t>Productivity_Score</a:t>
            </a:r>
            <a:r>
              <a:rPr lang="en-US" dirty="0"/>
              <a:t>' based on '</a:t>
            </a:r>
            <a:r>
              <a:rPr lang="en-US" dirty="0" err="1"/>
              <a:t>Coffee_Cups</a:t>
            </a:r>
            <a:r>
              <a:rPr lang="en-US" dirty="0"/>
              <a:t>'</a:t>
            </a:r>
          </a:p>
          <a:p>
            <a:pPr>
              <a:lnSpc>
                <a:spcPct val="150000"/>
              </a:lnSpc>
              <a:defRPr sz="1600">
                <a:solidFill>
                  <a:srgbClr val="DCDCDC"/>
                </a:solidFill>
                <a:latin typeface="Consolas"/>
              </a:defRPr>
            </a:pPr>
            <a:r>
              <a:rPr lang="en-US" dirty="0"/>
              <a:t>3. Save the model summary to '</a:t>
            </a:r>
            <a:r>
              <a:rPr lang="en-US" dirty="0" err="1"/>
              <a:t>livedemo</a:t>
            </a:r>
            <a:r>
              <a:rPr lang="en-US" dirty="0"/>
              <a:t>/results/summary.txt’</a:t>
            </a:r>
          </a:p>
          <a:p>
            <a:pPr>
              <a:lnSpc>
                <a:spcPct val="150000"/>
              </a:lnSpc>
              <a:defRPr sz="1600">
                <a:solidFill>
                  <a:srgbClr val="DCDCDC"/>
                </a:solidFill>
                <a:latin typeface="Consolas"/>
              </a:defRPr>
            </a:pPr>
            <a:r>
              <a:rPr lang="en-US" dirty="0"/>
              <a:t>4. Save the plot to '</a:t>
            </a:r>
            <a:r>
              <a:rPr lang="en-US" dirty="0" err="1"/>
              <a:t>livedemo</a:t>
            </a:r>
            <a:r>
              <a:rPr lang="en-US" dirty="0"/>
              <a:t>/results/regression_plot.png' using the class's </a:t>
            </a:r>
            <a:r>
              <a:rPr lang="en-US" dirty="0" err="1"/>
              <a:t>plot_fit</a:t>
            </a:r>
            <a:r>
              <a:rPr lang="en-US" dirty="0"/>
              <a:t>() method</a:t>
            </a:r>
          </a:p>
          <a:p>
            <a:pPr>
              <a:lnSpc>
                <a:spcPct val="150000"/>
              </a:lnSpc>
              <a:defRPr sz="1600">
                <a:solidFill>
                  <a:srgbClr val="DCDCDC"/>
                </a:solidFill>
                <a:latin typeface="Consolas"/>
              </a:defRPr>
            </a:pPr>
            <a:r>
              <a:rPr lang="en-US" dirty="0"/>
              <a:t>--- </a:t>
            </a:r>
          </a:p>
          <a:p>
            <a:pPr>
              <a:lnSpc>
                <a:spcPct val="150000"/>
              </a:lnSpc>
              <a:defRPr sz="1600">
                <a:solidFill>
                  <a:srgbClr val="DCDCDC"/>
                </a:solidFill>
                <a:latin typeface="Consolas"/>
              </a:defRPr>
            </a:pPr>
            <a:r>
              <a:rPr lang="en-US" dirty="0"/>
              <a:t>Help me understand the results. Add a three-paragraph report below the regression results table</a:t>
            </a:r>
          </a:p>
        </p:txBody>
      </p:sp>
    </p:spTree>
    <p:extLst>
      <p:ext uri="{BB962C8B-B14F-4D97-AF65-F5344CB8AC3E}">
        <p14:creationId xmlns:p14="http://schemas.microsoft.com/office/powerpoint/2010/main" val="4084466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Best Practice #5</a:t>
            </a:r>
            <a:br/>
            <a:r>
              <a:t>Code Restructuring &amp; Documentation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Restructure &amp;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"Make it maintainable and shareable"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Good research code needs: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Clear structure - organized into logical files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Documentation - README, docstrings, comments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Type hints - for clarity and IDE support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Reproducibility - requirements.txt, setup instructions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AI is excellent at: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Generating boilerplate documentation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Adding type hints consistently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Restructuring into packages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Writing clear README files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Restructure &amp; Documentation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38646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rPr dirty="0"/>
              <a:t>PROMPT: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9571"/>
            <a:ext cx="11643055" cy="4931229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0783" y="1567543"/>
            <a:ext cx="1127729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rPr sz="1400" dirty="0"/>
              <a:t>Restructure the linear regression codebase:</a:t>
            </a:r>
            <a:br>
              <a:rPr sz="1400" dirty="0"/>
            </a:br>
            <a:br>
              <a:rPr sz="1400" dirty="0"/>
            </a:br>
            <a:r>
              <a:rPr sz="1400" dirty="0"/>
              <a:t>1. Add comprehensive docstrings to all methods (NumPy style)</a:t>
            </a:r>
            <a:br>
              <a:rPr sz="1400" dirty="0"/>
            </a:br>
            <a:r>
              <a:rPr sz="1400" dirty="0"/>
              <a:t>   - Description, Parameters, Returns, Examples</a:t>
            </a:r>
            <a:br>
              <a:rPr sz="1400" dirty="0"/>
            </a:br>
            <a:br>
              <a:rPr sz="1400" dirty="0"/>
            </a:br>
            <a:r>
              <a:rPr sz="1400" dirty="0"/>
              <a:t>2. Add type hints to all function signatures</a:t>
            </a:r>
            <a:br>
              <a:rPr sz="1400" dirty="0"/>
            </a:br>
            <a:br>
              <a:rPr sz="1400" dirty="0"/>
            </a:br>
            <a:r>
              <a:rPr sz="1400" dirty="0"/>
              <a:t>3. Create a README.md with:</a:t>
            </a:r>
            <a:br>
              <a:rPr sz="1400" dirty="0"/>
            </a:br>
            <a:r>
              <a:rPr sz="1400" dirty="0"/>
              <a:t>   - Project description</a:t>
            </a:r>
            <a:br>
              <a:rPr sz="1400" dirty="0"/>
            </a:br>
            <a:r>
              <a:rPr sz="1400" dirty="0"/>
              <a:t>   - Installation instructions</a:t>
            </a:r>
            <a:br>
              <a:rPr sz="1400" dirty="0"/>
            </a:br>
            <a:r>
              <a:rPr sz="1400" dirty="0"/>
              <a:t>   - Usage examples</a:t>
            </a:r>
            <a:br>
              <a:rPr sz="1400" dirty="0"/>
            </a:br>
            <a:r>
              <a:rPr sz="1400" dirty="0"/>
              <a:t>   - API documentation</a:t>
            </a:r>
            <a:br>
              <a:rPr sz="1400" dirty="0"/>
            </a:br>
            <a:br>
              <a:rPr sz="1400" dirty="0"/>
            </a:br>
            <a:r>
              <a:rPr sz="1400" dirty="0"/>
              <a:t>4. Organize into a proper package structure:</a:t>
            </a:r>
            <a:br>
              <a:rPr sz="1400" dirty="0"/>
            </a:br>
            <a:r>
              <a:rPr sz="1400" dirty="0"/>
              <a:t>   /</a:t>
            </a:r>
            <a:r>
              <a:rPr sz="1400" dirty="0" err="1"/>
              <a:t>linear_regression</a:t>
            </a:r>
            <a:br>
              <a:rPr sz="1400" dirty="0"/>
            </a:br>
            <a:r>
              <a:rPr sz="1400" dirty="0"/>
              <a:t>       __init__.py</a:t>
            </a:r>
            <a:br>
              <a:rPr sz="1400" dirty="0"/>
            </a:br>
            <a:r>
              <a:rPr sz="1400" dirty="0"/>
              <a:t>       model.py</a:t>
            </a:r>
            <a:br>
              <a:rPr sz="1400" dirty="0"/>
            </a:br>
            <a:r>
              <a:rPr sz="1400" dirty="0"/>
              <a:t>       validation.py</a:t>
            </a:r>
            <a:br>
              <a:rPr sz="1400" dirty="0"/>
            </a:br>
            <a:r>
              <a:rPr sz="1400" dirty="0"/>
              <a:t>       tests/</a:t>
            </a:r>
            <a:br>
              <a:rPr sz="1400" dirty="0"/>
            </a:br>
            <a:r>
              <a:rPr sz="1400" dirty="0"/>
              <a:t>           test_model.py</a:t>
            </a:r>
            <a:br>
              <a:rPr sz="1400" dirty="0"/>
            </a:br>
            <a:br>
              <a:rPr sz="1400" dirty="0"/>
            </a:br>
            <a:r>
              <a:rPr sz="1400" dirty="0"/>
              <a:t>5. Add a requirements.txt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Demo Recap: Five Best Practices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799505"/>
              </p:ext>
            </p:extLst>
          </p:nvPr>
        </p:nvGraphicFramePr>
        <p:xfrm>
          <a:off x="457200" y="1371600"/>
          <a:ext cx="10744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8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5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Best </a:t>
                      </a:r>
                      <a:r>
                        <a:rPr dirty="0"/>
                        <a:t>Practice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What We Did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Synthetic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5 parameter sets, verified recovery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Theoretical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Sample size, noise variance, duplication tests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Cross-AI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Claude reviewed Gemini's code + sklearn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Unit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pytest suite for edge cases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Restructure &amp; 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Docstrings, README, package 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Lesson from the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174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AI writes the code</a:t>
            </a:r>
          </a:p>
          <a:p>
            <a:pPr>
              <a:lnSpc>
                <a:spcPct val="2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YOU validate it</a:t>
            </a:r>
          </a:p>
          <a:p>
            <a:pPr>
              <a:lnSpc>
                <a:spcPct val="2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Never trust AI output without verification</a:t>
            </a:r>
          </a:p>
          <a:p>
            <a:pPr>
              <a:lnSpc>
                <a:spcPct val="2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Use multiple validation strategies</a:t>
            </a:r>
          </a:p>
          <a:p>
            <a:pPr>
              <a:lnSpc>
                <a:spcPct val="2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Document your validation process for reproducibility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 5: Limitations &amp; Cautions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When NOT to Trust AI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297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Security-critical code - authentication, encryption, input validation</a:t>
            </a:r>
          </a:p>
          <a:p>
            <a:pPr>
              <a:lnSpc>
                <a:spcPct val="20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Novel research methods - AI knows existing approaches, not new ones</a:t>
            </a:r>
          </a:p>
          <a:p>
            <a:pPr>
              <a:lnSpc>
                <a:spcPct val="20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Domain-specific edge cases - AI doesn't know your field's quirks</a:t>
            </a:r>
          </a:p>
          <a:p>
            <a:pPr>
              <a:lnSpc>
                <a:spcPct val="20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Performance-critical sections - may use suboptimal algorithms</a:t>
            </a:r>
          </a:p>
          <a:p>
            <a:pPr>
              <a:lnSpc>
                <a:spcPct val="20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When you don't understand it - if you can't verify, don't use it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Common AI Failure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99" y="1048944"/>
            <a:ext cx="11277295" cy="5830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Hallucinated functions - invents APIs that don't exist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Outdated approaches - uses deprecated methods from old training data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Confident incorrectness - presents wrong code with certainty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Subtle logic errors - off-by-one, boundary conditions, edge cases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Over-engineering - adds unnecessary complexit</a:t>
            </a:r>
            <a:r>
              <a:rPr lang="en-US" dirty="0"/>
              <a:t>y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lang="en-US" dirty="0"/>
              <a:t>• Perhaps the most dangerous: sketchy approaches to solving the problem</a:t>
            </a:r>
          </a:p>
          <a:p>
            <a:pPr lvl="1"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lang="en-US" sz="2000" dirty="0"/>
              <a:t>• Personal experience: I asked it to run a regression on a given data set with a hypothesis</a:t>
            </a:r>
          </a:p>
          <a:p>
            <a:pPr lvl="1">
              <a:lnSpc>
                <a:spcPct val="15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lang="en-US" sz="2000" dirty="0"/>
              <a:t>• It created a fallback on the code, which created synthetic data that strongly supported my hypothesis if any errors occurred…</a:t>
            </a:r>
            <a:endParaRPr sz="2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 6: Other AI Tools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AI Coding Tools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Gemini CLI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Today's focus - Google's terminal-based 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Claude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Anthropic's</a:t>
                      </a:r>
                      <a:r>
                        <a:rPr dirty="0"/>
                        <a:t> CLI - similar capabilities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GitHub Copilot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IDE integration, autocomplete-style coding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ChatGPT + Code Interpreter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Quick scripts, data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Cursor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Full IDE with AI built-in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Research-Specific AI Tools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Elicit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Literature review, paper discovery, data extraction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Consensus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Scientific consensus on research questions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Semantic Scholar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AI-powered academic paper 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Perplexity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Research assistant with citations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NotebookLM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Analyze and chat with your own documents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Five Things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297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1. CLI tools operate IN your project - they read, write, and run code</a:t>
            </a:r>
          </a:p>
          <a:p>
            <a:pPr>
              <a:lnSpc>
                <a:spcPct val="20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2. Good prompts are specific, contextual, and include validation</a:t>
            </a:r>
          </a:p>
          <a:p>
            <a:pPr>
              <a:lnSpc>
                <a:spcPct val="20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3. Always validate AI code - synthetic data, theory, cross-AI, tests</a:t>
            </a:r>
          </a:p>
          <a:p>
            <a:pPr>
              <a:lnSpc>
                <a:spcPct val="20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4. AI is a powerful assistant - fast but needs supervision</a:t>
            </a:r>
          </a:p>
          <a:p>
            <a:pPr>
              <a:lnSpc>
                <a:spcPct val="200000"/>
              </a:lnSpc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5. You remain the scientist - AI augments, doesn't replace expertise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Start small: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Pick ONE tool (Gemini CLI recommended)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Try ONE simple task you understand well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Validate thoroughly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Build confidence gradually</a:t>
            </a:r>
            <a:endParaRPr lang="en-US" dirty="0"/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rPr dirty="0"/>
              <a:t>• Resources: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Gemini CLI: https://ai.google.dev/gemini-api/docs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Claude Code: https://docs.anthropic.com/en/docs/claude-code</a:t>
            </a:r>
          </a:p>
          <a:p>
            <a:pPr lvl="1"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rPr dirty="0"/>
              <a:t>    D-Lab consultations: https://dlab.berkeley.edu/consulting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2472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dirty="0"/>
              <a:t>Questions?</a:t>
            </a:r>
          </a:p>
          <a:p>
            <a:pPr algn="ctr">
              <a:spcBef>
                <a:spcPts val="2000"/>
              </a:spcBef>
              <a:defRPr sz="2800">
                <a:solidFill>
                  <a:srgbClr val="FFC107"/>
                </a:solidFill>
              </a:defRPr>
            </a:pPr>
            <a:r>
              <a:rPr dirty="0"/>
              <a:t>Thank you!</a:t>
            </a:r>
            <a:br>
              <a:rPr dirty="0"/>
            </a:b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4067</Words>
  <Application>Microsoft Office PowerPoint</Application>
  <PresentationFormat>Widescreen</PresentationFormat>
  <Paragraphs>386</Paragraphs>
  <Slides>59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Bruno Smaniotto</cp:lastModifiedBy>
  <cp:revision>1</cp:revision>
  <dcterms:created xsi:type="dcterms:W3CDTF">2013-01-27T09:14:16Z</dcterms:created>
  <dcterms:modified xsi:type="dcterms:W3CDTF">2026-01-13T17:30:45Z</dcterms:modified>
  <cp:category/>
</cp:coreProperties>
</file>